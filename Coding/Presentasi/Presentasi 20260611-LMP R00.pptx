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78" r:id="rId2"/>
    <p:sldId id="294" r:id="rId3"/>
    <p:sldId id="323" r:id="rId4"/>
    <p:sldId id="325" r:id="rId5"/>
    <p:sldId id="295" r:id="rId6"/>
    <p:sldId id="317" r:id="rId7"/>
    <p:sldId id="334" r:id="rId8"/>
    <p:sldId id="296" r:id="rId9"/>
    <p:sldId id="308" r:id="rId10"/>
    <p:sldId id="314" r:id="rId11"/>
    <p:sldId id="318" r:id="rId12"/>
    <p:sldId id="309" r:id="rId13"/>
    <p:sldId id="310" r:id="rId14"/>
    <p:sldId id="319" r:id="rId15"/>
    <p:sldId id="335" r:id="rId16"/>
    <p:sldId id="320" r:id="rId17"/>
    <p:sldId id="336" r:id="rId18"/>
    <p:sldId id="321" r:id="rId19"/>
    <p:sldId id="312" r:id="rId20"/>
    <p:sldId id="322" r:id="rId21"/>
    <p:sldId id="337" r:id="rId22"/>
    <p:sldId id="313" r:id="rId23"/>
    <p:sldId id="303" r:id="rId24"/>
    <p:sldId id="324" r:id="rId25"/>
    <p:sldId id="316" r:id="rId26"/>
    <p:sldId id="326" r:id="rId27"/>
    <p:sldId id="339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8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FC8755-B7BF-49C3-9A78-CB39C01FB92E}">
          <p14:sldIdLst>
            <p14:sldId id="278"/>
            <p14:sldId id="294"/>
            <p14:sldId id="323"/>
            <p14:sldId id="325"/>
            <p14:sldId id="295"/>
            <p14:sldId id="317"/>
            <p14:sldId id="334"/>
            <p14:sldId id="296"/>
            <p14:sldId id="308"/>
            <p14:sldId id="314"/>
            <p14:sldId id="318"/>
            <p14:sldId id="309"/>
            <p14:sldId id="310"/>
            <p14:sldId id="319"/>
            <p14:sldId id="335"/>
            <p14:sldId id="320"/>
            <p14:sldId id="336"/>
            <p14:sldId id="321"/>
            <p14:sldId id="312"/>
            <p14:sldId id="322"/>
            <p14:sldId id="337"/>
            <p14:sldId id="313"/>
            <p14:sldId id="303"/>
            <p14:sldId id="324"/>
            <p14:sldId id="316"/>
            <p14:sldId id="326"/>
            <p14:sldId id="339"/>
            <p14:sldId id="327"/>
            <p14:sldId id="328"/>
            <p14:sldId id="329"/>
            <p14:sldId id="330"/>
            <p14:sldId id="331"/>
            <p14:sldId id="332"/>
            <p14:sldId id="333"/>
            <p14:sldId id="3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5" autoAdjust="0"/>
    <p:restoredTop sz="91241" autoAdjust="0"/>
  </p:normalViewPr>
  <p:slideViewPr>
    <p:cSldViewPr snapToGrid="0">
      <p:cViewPr>
        <p:scale>
          <a:sx n="50" d="100"/>
          <a:sy n="50" d="100"/>
        </p:scale>
        <p:origin x="36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UGM\Tugas%20Akhir\UC%20Coding\Belajar\Analisis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Demand &amp;</a:t>
            </a:r>
            <a:r>
              <a:rPr lang="en-ID" baseline="0"/>
              <a:t> WT Potential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Demand!$B$1</c:f>
              <c:strCache>
                <c:ptCount val="1"/>
                <c:pt idx="0">
                  <c:v>Demand (MW)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Demand!$A$2:$A$25</c:f>
              <c:numCache>
                <c:formatCode>General</c:formatCode>
                <c:ptCount val="2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</c:numCache>
            </c:numRef>
          </c:cat>
          <c:val>
            <c:numRef>
              <c:f>Demand!$B$2:$B$25</c:f>
              <c:numCache>
                <c:formatCode>0.00</c:formatCode>
                <c:ptCount val="24"/>
                <c:pt idx="0">
                  <c:v>4225.6768346587305</c:v>
                </c:pt>
                <c:pt idx="1">
                  <c:v>4173.1684539200869</c:v>
                </c:pt>
                <c:pt idx="2">
                  <c:v>4089.201785627165</c:v>
                </c:pt>
                <c:pt idx="3">
                  <c:v>4009.3833712250575</c:v>
                </c:pt>
                <c:pt idx="4">
                  <c:v>4009.3833712250575</c:v>
                </c:pt>
                <c:pt idx="5">
                  <c:v>4211.5210225886722</c:v>
                </c:pt>
                <c:pt idx="6">
                  <c:v>4273.0604107918234</c:v>
                </c:pt>
                <c:pt idx="7">
                  <c:v>4224.6919373566861</c:v>
                </c:pt>
                <c:pt idx="8">
                  <c:v>4531.4540605942329</c:v>
                </c:pt>
                <c:pt idx="9">
                  <c:v>4847.0719129628733</c:v>
                </c:pt>
                <c:pt idx="10">
                  <c:v>4980.9845596916621</c:v>
                </c:pt>
                <c:pt idx="11">
                  <c:v>5032.1157535249067</c:v>
                </c:pt>
                <c:pt idx="12">
                  <c:v>4781.5845889642387</c:v>
                </c:pt>
                <c:pt idx="13">
                  <c:v>4955.8112523783966</c:v>
                </c:pt>
                <c:pt idx="14">
                  <c:v>5107.4270107820657</c:v>
                </c:pt>
                <c:pt idx="15">
                  <c:v>5062.5891437771388</c:v>
                </c:pt>
                <c:pt idx="16">
                  <c:v>5000.4488012879938</c:v>
                </c:pt>
                <c:pt idx="17">
                  <c:v>4900.5568444162564</c:v>
                </c:pt>
                <c:pt idx="18">
                  <c:v>4952.2722993608822</c:v>
                </c:pt>
                <c:pt idx="19">
                  <c:v>5132.4000000000005</c:v>
                </c:pt>
                <c:pt idx="20">
                  <c:v>5080.6845450553747</c:v>
                </c:pt>
                <c:pt idx="21">
                  <c:v>4974.2989432599898</c:v>
                </c:pt>
                <c:pt idx="22">
                  <c:v>4703.5189578962782</c:v>
                </c:pt>
                <c:pt idx="23">
                  <c:v>4496.2565019271115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27-4C3E-AC89-8B06A0FC110E}"/>
            </c:ext>
          </c:extLst>
        </c:ser>
        <c:ser>
          <c:idx val="1"/>
          <c:order val="1"/>
          <c:tx>
            <c:v>WT Potential (MW)</c:v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Demand!$D$2:$D$25</c:f>
              <c:numCache>
                <c:formatCode>General</c:formatCode>
                <c:ptCount val="24"/>
                <c:pt idx="0">
                  <c:v>400</c:v>
                </c:pt>
                <c:pt idx="1">
                  <c:v>338.50959999999998</c:v>
                </c:pt>
                <c:pt idx="2">
                  <c:v>347.43400000000003</c:v>
                </c:pt>
                <c:pt idx="3">
                  <c:v>333.57119999999998</c:v>
                </c:pt>
                <c:pt idx="4">
                  <c:v>371.75440000000003</c:v>
                </c:pt>
                <c:pt idx="5">
                  <c:v>272.37920000000003</c:v>
                </c:pt>
                <c:pt idx="6">
                  <c:v>309.17360000000002</c:v>
                </c:pt>
                <c:pt idx="7">
                  <c:v>237.32959999999997</c:v>
                </c:pt>
                <c:pt idx="8">
                  <c:v>308.59480000000002</c:v>
                </c:pt>
                <c:pt idx="9">
                  <c:v>390.9864</c:v>
                </c:pt>
                <c:pt idx="10">
                  <c:v>288.66679999999997</c:v>
                </c:pt>
                <c:pt idx="11">
                  <c:v>180.5616</c:v>
                </c:pt>
                <c:pt idx="12">
                  <c:v>118.5444</c:v>
                </c:pt>
                <c:pt idx="13">
                  <c:v>134.0264</c:v>
                </c:pt>
                <c:pt idx="14">
                  <c:v>127.08919999999999</c:v>
                </c:pt>
                <c:pt idx="15">
                  <c:v>101.31559999999999</c:v>
                </c:pt>
                <c:pt idx="16">
                  <c:v>185.3972</c:v>
                </c:pt>
                <c:pt idx="17">
                  <c:v>217.2336</c:v>
                </c:pt>
                <c:pt idx="18">
                  <c:v>233.70400000000001</c:v>
                </c:pt>
                <c:pt idx="19">
                  <c:v>266.38320000000004</c:v>
                </c:pt>
                <c:pt idx="20">
                  <c:v>255.49799999999999</c:v>
                </c:pt>
                <c:pt idx="21">
                  <c:v>197.36840000000001</c:v>
                </c:pt>
                <c:pt idx="22">
                  <c:v>219.4648</c:v>
                </c:pt>
                <c:pt idx="23">
                  <c:v>140.30720000000002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527-4C3E-AC89-8B06A0FC1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237202960"/>
        <c:axId val="406029199"/>
      </c:lineChart>
      <c:catAx>
        <c:axId val="1237202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6029199"/>
        <c:crosses val="autoZero"/>
        <c:auto val="1"/>
        <c:lblAlgn val="ctr"/>
        <c:lblOffset val="100"/>
        <c:noMultiLvlLbl val="0"/>
      </c:catAx>
      <c:valAx>
        <c:axId val="406029199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202960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State of Charge Battery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Sheet1!$DQ$121</c:f>
              <c:strCache>
                <c:ptCount val="1"/>
                <c:pt idx="0">
                  <c:v>Candra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Sheet1!$DR$121:$EO$121</c:f>
              <c:numCache>
                <c:formatCode>0.00</c:formatCode>
                <c:ptCount val="24"/>
                <c:pt idx="0">
                  <c:v>20</c:v>
                </c:pt>
                <c:pt idx="1">
                  <c:v>40.5</c:v>
                </c:pt>
                <c:pt idx="2">
                  <c:v>65.298214372834991</c:v>
                </c:pt>
                <c:pt idx="3">
                  <c:v>120.5</c:v>
                </c:pt>
                <c:pt idx="4">
                  <c:v>120.5</c:v>
                </c:pt>
                <c:pt idx="5">
                  <c:v>40.5</c:v>
                </c:pt>
                <c:pt idx="6">
                  <c:v>-39.298214372834991</c:v>
                </c:pt>
                <c:pt idx="7">
                  <c:v>120.5</c:v>
                </c:pt>
                <c:pt idx="8">
                  <c:v>40.5</c:v>
                </c:pt>
                <c:pt idx="9">
                  <c:v>40.5</c:v>
                </c:pt>
                <c:pt idx="10">
                  <c:v>-11.384246475093278</c:v>
                </c:pt>
                <c:pt idx="11">
                  <c:v>-7.6157535249067223</c:v>
                </c:pt>
                <c:pt idx="12">
                  <c:v>60.5</c:v>
                </c:pt>
                <c:pt idx="13">
                  <c:v>100.5</c:v>
                </c:pt>
                <c:pt idx="14">
                  <c:v>-39.5</c:v>
                </c:pt>
                <c:pt idx="15">
                  <c:v>6.9108562228611845</c:v>
                </c:pt>
                <c:pt idx="16">
                  <c:v>24.051198712006226</c:v>
                </c:pt>
                <c:pt idx="17">
                  <c:v>110.53794506513259</c:v>
                </c:pt>
                <c:pt idx="18">
                  <c:v>120.5</c:v>
                </c:pt>
                <c:pt idx="19">
                  <c:v>40.5</c:v>
                </c:pt>
                <c:pt idx="20">
                  <c:v>-39.5</c:v>
                </c:pt>
                <c:pt idx="21">
                  <c:v>-39.5</c:v>
                </c:pt>
                <c:pt idx="22">
                  <c:v>15.5</c:v>
                </c:pt>
                <c:pt idx="23">
                  <c:v>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EF-47C4-9186-47EB9411EB74}"/>
            </c:ext>
          </c:extLst>
        </c:ser>
        <c:ser>
          <c:idx val="3"/>
          <c:order val="1"/>
          <c:tx>
            <c:strRef>
              <c:f>Sheet1!$DQ$122</c:f>
              <c:strCache>
                <c:ptCount val="1"/>
                <c:pt idx="0">
                  <c:v>Aris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Sheet1!$DR$122:$EO$122</c:f>
              <c:numCache>
                <c:formatCode>0.00</c:formatCode>
                <c:ptCount val="24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40</c:v>
                </c:pt>
                <c:pt idx="4">
                  <c:v>40</c:v>
                </c:pt>
                <c:pt idx="5">
                  <c:v>65</c:v>
                </c:pt>
                <c:pt idx="6">
                  <c:v>125</c:v>
                </c:pt>
                <c:pt idx="7">
                  <c:v>205</c:v>
                </c:pt>
                <c:pt idx="8">
                  <c:v>205</c:v>
                </c:pt>
                <c:pt idx="9">
                  <c:v>205</c:v>
                </c:pt>
                <c:pt idx="10">
                  <c:v>185</c:v>
                </c:pt>
                <c:pt idx="11">
                  <c:v>125</c:v>
                </c:pt>
                <c:pt idx="12">
                  <c:v>205</c:v>
                </c:pt>
                <c:pt idx="13">
                  <c:v>133.59</c:v>
                </c:pt>
                <c:pt idx="14">
                  <c:v>53.59</c:v>
                </c:pt>
                <c:pt idx="15">
                  <c:v>20</c:v>
                </c:pt>
                <c:pt idx="16">
                  <c:v>20</c:v>
                </c:pt>
                <c:pt idx="17">
                  <c:v>100</c:v>
                </c:pt>
                <c:pt idx="18">
                  <c:v>171.68</c:v>
                </c:pt>
                <c:pt idx="19">
                  <c:v>151.68</c:v>
                </c:pt>
                <c:pt idx="20">
                  <c:v>100</c:v>
                </c:pt>
                <c:pt idx="21">
                  <c:v>20</c:v>
                </c:pt>
                <c:pt idx="22">
                  <c:v>35</c:v>
                </c:pt>
                <c:pt idx="23">
                  <c:v>40.5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EEF-47C4-9186-47EB9411E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4612656"/>
        <c:axId val="884613136"/>
      </c:lineChart>
      <c:catAx>
        <c:axId val="8846126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13136"/>
        <c:crosses val="autoZero"/>
        <c:auto val="1"/>
        <c:lblAlgn val="ctr"/>
        <c:lblOffset val="100"/>
        <c:noMultiLvlLbl val="0"/>
      </c:catAx>
      <c:valAx>
        <c:axId val="88461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1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Charge/Discharge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Sheet1!$DQ$115</c:f>
              <c:strCache>
                <c:ptCount val="1"/>
                <c:pt idx="0">
                  <c:v>Candra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Sheet1!$DR$113:$EO$114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Sheet1!$DR$115:$EO$115</c:f>
              <c:numCache>
                <c:formatCode>0.00</c:formatCode>
                <c:ptCount val="24"/>
                <c:pt idx="0">
                  <c:v>-20.5</c:v>
                </c:pt>
                <c:pt idx="1">
                  <c:v>0</c:v>
                </c:pt>
                <c:pt idx="2">
                  <c:v>24.798214372834991</c:v>
                </c:pt>
                <c:pt idx="3">
                  <c:v>80</c:v>
                </c:pt>
                <c:pt idx="4">
                  <c:v>80</c:v>
                </c:pt>
                <c:pt idx="5">
                  <c:v>0</c:v>
                </c:pt>
                <c:pt idx="6">
                  <c:v>-79.798214372834991</c:v>
                </c:pt>
                <c:pt idx="7">
                  <c:v>80</c:v>
                </c:pt>
                <c:pt idx="8">
                  <c:v>0</c:v>
                </c:pt>
                <c:pt idx="9">
                  <c:v>0</c:v>
                </c:pt>
                <c:pt idx="10">
                  <c:v>-51.884246475093278</c:v>
                </c:pt>
                <c:pt idx="11">
                  <c:v>-48.115753524906722</c:v>
                </c:pt>
                <c:pt idx="12">
                  <c:v>20</c:v>
                </c:pt>
                <c:pt idx="13">
                  <c:v>60</c:v>
                </c:pt>
                <c:pt idx="14">
                  <c:v>-80</c:v>
                </c:pt>
                <c:pt idx="15">
                  <c:v>-33.589143777138815</c:v>
                </c:pt>
                <c:pt idx="16">
                  <c:v>-16.448801287993774</c:v>
                </c:pt>
                <c:pt idx="17">
                  <c:v>70.03794506513259</c:v>
                </c:pt>
                <c:pt idx="18">
                  <c:v>80</c:v>
                </c:pt>
                <c:pt idx="19">
                  <c:v>0</c:v>
                </c:pt>
                <c:pt idx="20">
                  <c:v>-80</c:v>
                </c:pt>
                <c:pt idx="21">
                  <c:v>-80</c:v>
                </c:pt>
                <c:pt idx="22">
                  <c:v>-25</c:v>
                </c:pt>
                <c:pt idx="23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C5-489F-AFA5-9E582D3B4D16}"/>
            </c:ext>
          </c:extLst>
        </c:ser>
        <c:ser>
          <c:idx val="1"/>
          <c:order val="1"/>
          <c:tx>
            <c:strRef>
              <c:f>Sheet1!$DQ$116</c:f>
              <c:strCache>
                <c:ptCount val="1"/>
                <c:pt idx="0">
                  <c:v>Aris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Sheet1!$DR$113:$EO$114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Sheet1!$DR$116:$EO$116</c:f>
              <c:numCache>
                <c:formatCode>0.00</c:formatCode>
                <c:ptCount val="24"/>
                <c:pt idx="0">
                  <c:v>-20.496834658730222</c:v>
                </c:pt>
                <c:pt idx="1">
                  <c:v>1.5460799131687963E-3</c:v>
                </c:pt>
                <c:pt idx="2">
                  <c:v>-1.7856271651908173E-3</c:v>
                </c:pt>
                <c:pt idx="3">
                  <c:v>19.996628774942565</c:v>
                </c:pt>
                <c:pt idx="4">
                  <c:v>-3.3712250574353675E-3</c:v>
                </c:pt>
                <c:pt idx="5">
                  <c:v>24.998977411328269</c:v>
                </c:pt>
                <c:pt idx="6">
                  <c:v>59.999589208176076</c:v>
                </c:pt>
                <c:pt idx="7">
                  <c:v>79.99806264331437</c:v>
                </c:pt>
                <c:pt idx="8">
                  <c:v>5.9394057670942857E-3</c:v>
                </c:pt>
                <c:pt idx="9">
                  <c:v>-1.9129628735754522E-3</c:v>
                </c:pt>
                <c:pt idx="10">
                  <c:v>-20.004559691662507</c:v>
                </c:pt>
                <c:pt idx="11">
                  <c:v>-59.995753524906831</c:v>
                </c:pt>
                <c:pt idx="12">
                  <c:v>79.995411035761208</c:v>
                </c:pt>
                <c:pt idx="13">
                  <c:v>-71.411252378396966</c:v>
                </c:pt>
                <c:pt idx="14">
                  <c:v>-79.997010782065445</c:v>
                </c:pt>
                <c:pt idx="15">
                  <c:v>-33.589143777138815</c:v>
                </c:pt>
                <c:pt idx="16">
                  <c:v>1.1987120060439338E-3</c:v>
                </c:pt>
                <c:pt idx="17">
                  <c:v>80.003155583743137</c:v>
                </c:pt>
                <c:pt idx="18">
                  <c:v>71.687700639117793</c:v>
                </c:pt>
                <c:pt idx="19">
                  <c:v>-20.000000000000909</c:v>
                </c:pt>
                <c:pt idx="20">
                  <c:v>-51.684545055374656</c:v>
                </c:pt>
                <c:pt idx="21">
                  <c:v>-79.998943259989574</c:v>
                </c:pt>
                <c:pt idx="22">
                  <c:v>15.001042103722284</c:v>
                </c:pt>
                <c:pt idx="23">
                  <c:v>5.5034980728887604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C5-489F-AFA5-9E582D3B4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84647696"/>
        <c:axId val="884649136"/>
      </c:barChart>
      <c:catAx>
        <c:axId val="88464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49136"/>
        <c:crosses val="autoZero"/>
        <c:auto val="1"/>
        <c:lblAlgn val="ctr"/>
        <c:lblOffset val="100"/>
        <c:noMultiLvlLbl val="0"/>
      </c:catAx>
      <c:valAx>
        <c:axId val="88464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4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State of Charge Battery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v>Skenario 8</c:v>
          </c:tx>
          <c:spPr>
            <a:ln w="34925" cap="rnd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Sheet1!$DR$145:$EO$145</c:f>
              <c:numCache>
                <c:formatCode>0.00</c:formatCode>
                <c:ptCount val="24"/>
                <c:pt idx="0">
                  <c:v>19.999999999999989</c:v>
                </c:pt>
                <c:pt idx="1">
                  <c:v>20</c:v>
                </c:pt>
                <c:pt idx="2">
                  <c:v>20</c:v>
                </c:pt>
                <c:pt idx="3">
                  <c:v>21.628971225057278</c:v>
                </c:pt>
                <c:pt idx="4">
                  <c:v>100</c:v>
                </c:pt>
                <c:pt idx="5">
                  <c:v>160</c:v>
                </c:pt>
                <c:pt idx="6">
                  <c:v>160</c:v>
                </c:pt>
                <c:pt idx="7">
                  <c:v>205</c:v>
                </c:pt>
                <c:pt idx="8">
                  <c:v>205</c:v>
                </c:pt>
                <c:pt idx="9">
                  <c:v>193.91448703712689</c:v>
                </c:pt>
                <c:pt idx="10">
                  <c:v>173.91448703712689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205</c:v>
                </c:pt>
                <c:pt idx="15">
                  <c:v>145</c:v>
                </c:pt>
                <c:pt idx="16">
                  <c:v>145</c:v>
                </c:pt>
                <c:pt idx="17">
                  <c:v>125</c:v>
                </c:pt>
                <c:pt idx="18">
                  <c:v>125</c:v>
                </c:pt>
                <c:pt idx="19">
                  <c:v>100</c:v>
                </c:pt>
                <c:pt idx="20">
                  <c:v>20</c:v>
                </c:pt>
                <c:pt idx="21">
                  <c:v>20</c:v>
                </c:pt>
                <c:pt idx="22">
                  <c:v>19.999999999999993</c:v>
                </c:pt>
                <c:pt idx="23">
                  <c:v>40.5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1C8-4263-9F7A-7925184D7CBD}"/>
            </c:ext>
          </c:extLst>
        </c:ser>
        <c:ser>
          <c:idx val="0"/>
          <c:order val="1"/>
          <c:tx>
            <c:v>Skenario 9</c:v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Sheet1!$DR$161:$EO$161</c:f>
              <c:numCache>
                <c:formatCode>0.00</c:formatCode>
                <c:ptCount val="24"/>
                <c:pt idx="0">
                  <c:v>120.5</c:v>
                </c:pt>
                <c:pt idx="1">
                  <c:v>40.5</c:v>
                </c:pt>
                <c:pt idx="2">
                  <c:v>45</c:v>
                </c:pt>
                <c:pt idx="3">
                  <c:v>125</c:v>
                </c:pt>
                <c:pt idx="4">
                  <c:v>205</c:v>
                </c:pt>
                <c:pt idx="5">
                  <c:v>185</c:v>
                </c:pt>
                <c:pt idx="6">
                  <c:v>105</c:v>
                </c:pt>
                <c:pt idx="7">
                  <c:v>185</c:v>
                </c:pt>
                <c:pt idx="8">
                  <c:v>205</c:v>
                </c:pt>
                <c:pt idx="9">
                  <c:v>205</c:v>
                </c:pt>
                <c:pt idx="10">
                  <c:v>191.3300935249066</c:v>
                </c:pt>
                <c:pt idx="11">
                  <c:v>125</c:v>
                </c:pt>
                <c:pt idx="12">
                  <c:v>205</c:v>
                </c:pt>
                <c:pt idx="13">
                  <c:v>205</c:v>
                </c:pt>
                <c:pt idx="14">
                  <c:v>205</c:v>
                </c:pt>
                <c:pt idx="15">
                  <c:v>205</c:v>
                </c:pt>
                <c:pt idx="16">
                  <c:v>185</c:v>
                </c:pt>
                <c:pt idx="17">
                  <c:v>185</c:v>
                </c:pt>
                <c:pt idx="18">
                  <c:v>185</c:v>
                </c:pt>
                <c:pt idx="19">
                  <c:v>185</c:v>
                </c:pt>
                <c:pt idx="20">
                  <c:v>165.5</c:v>
                </c:pt>
                <c:pt idx="21">
                  <c:v>85.5</c:v>
                </c:pt>
                <c:pt idx="22">
                  <c:v>86.669902103721597</c:v>
                </c:pt>
                <c:pt idx="23">
                  <c:v>40.5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C8-4263-9F7A-7925184D7C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84612656"/>
        <c:axId val="884613136"/>
      </c:lineChart>
      <c:catAx>
        <c:axId val="8846126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13136"/>
        <c:crosses val="autoZero"/>
        <c:auto val="1"/>
        <c:lblAlgn val="ctr"/>
        <c:lblOffset val="100"/>
        <c:noMultiLvlLbl val="0"/>
      </c:catAx>
      <c:valAx>
        <c:axId val="884613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12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Charge/Discharge Condition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Skenario 8</c:v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Sheet1!$DR$113:$EO$114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  <c:lvl>
                  <c:pt idx="0">
                    <c:v>Hour</c:v>
                  </c:pt>
                </c:lvl>
              </c:multiLvlStrCache>
            </c:multiLvlStrRef>
          </c:cat>
          <c:val>
            <c:numRef>
              <c:f>Sheet1!$DR$144:$EO$144</c:f>
              <c:numCache>
                <c:formatCode>0.00</c:formatCode>
                <c:ptCount val="24"/>
                <c:pt idx="0">
                  <c:v>-20.500000000000014</c:v>
                </c:pt>
                <c:pt idx="1">
                  <c:v>0</c:v>
                </c:pt>
                <c:pt idx="2">
                  <c:v>0</c:v>
                </c:pt>
                <c:pt idx="3">
                  <c:v>1.628971225057285</c:v>
                </c:pt>
                <c:pt idx="4">
                  <c:v>78.371028774942715</c:v>
                </c:pt>
                <c:pt idx="5">
                  <c:v>60</c:v>
                </c:pt>
                <c:pt idx="6">
                  <c:v>0</c:v>
                </c:pt>
                <c:pt idx="7">
                  <c:v>45</c:v>
                </c:pt>
                <c:pt idx="8">
                  <c:v>0</c:v>
                </c:pt>
                <c:pt idx="9">
                  <c:v>-11.085512962873111</c:v>
                </c:pt>
                <c:pt idx="10">
                  <c:v>-20</c:v>
                </c:pt>
                <c:pt idx="11">
                  <c:v>-48.914487037126889</c:v>
                </c:pt>
                <c:pt idx="12">
                  <c:v>80</c:v>
                </c:pt>
                <c:pt idx="13">
                  <c:v>0</c:v>
                </c:pt>
                <c:pt idx="14">
                  <c:v>0</c:v>
                </c:pt>
                <c:pt idx="15">
                  <c:v>-60</c:v>
                </c:pt>
                <c:pt idx="16">
                  <c:v>0</c:v>
                </c:pt>
                <c:pt idx="17">
                  <c:v>-20</c:v>
                </c:pt>
                <c:pt idx="18">
                  <c:v>0</c:v>
                </c:pt>
                <c:pt idx="19">
                  <c:v>-25</c:v>
                </c:pt>
                <c:pt idx="20">
                  <c:v>-80</c:v>
                </c:pt>
                <c:pt idx="21">
                  <c:v>0</c:v>
                </c:pt>
                <c:pt idx="22">
                  <c:v>0</c:v>
                </c:pt>
                <c:pt idx="23">
                  <c:v>20.500000000000004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4-4DF6-AB89-FC35EB8B6C1C}"/>
            </c:ext>
          </c:extLst>
        </c:ser>
        <c:ser>
          <c:idx val="1"/>
          <c:order val="1"/>
          <c:tx>
            <c:v>Skenario 9</c:v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val>
            <c:numRef>
              <c:f>Sheet1!$DR$160:$EO$160</c:f>
              <c:numCache>
                <c:formatCode>0.00</c:formatCode>
                <c:ptCount val="24"/>
                <c:pt idx="0">
                  <c:v>80</c:v>
                </c:pt>
                <c:pt idx="1">
                  <c:v>-80</c:v>
                </c:pt>
                <c:pt idx="2">
                  <c:v>4.5</c:v>
                </c:pt>
                <c:pt idx="3">
                  <c:v>80</c:v>
                </c:pt>
                <c:pt idx="4">
                  <c:v>80</c:v>
                </c:pt>
                <c:pt idx="5">
                  <c:v>-20</c:v>
                </c:pt>
                <c:pt idx="6">
                  <c:v>-80</c:v>
                </c:pt>
                <c:pt idx="7">
                  <c:v>80</c:v>
                </c:pt>
                <c:pt idx="8">
                  <c:v>20</c:v>
                </c:pt>
                <c:pt idx="9">
                  <c:v>0</c:v>
                </c:pt>
                <c:pt idx="10">
                  <c:v>-13.6699064750934</c:v>
                </c:pt>
                <c:pt idx="11">
                  <c:v>-66.330093524906601</c:v>
                </c:pt>
                <c:pt idx="12">
                  <c:v>80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-20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-19.5</c:v>
                </c:pt>
                <c:pt idx="21">
                  <c:v>-80</c:v>
                </c:pt>
                <c:pt idx="22">
                  <c:v>1.1699021037215971</c:v>
                </c:pt>
                <c:pt idx="23">
                  <c:v>-46.169902103721597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14-4DF6-AB89-FC35EB8B6C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84647696"/>
        <c:axId val="884649136"/>
      </c:barChart>
      <c:catAx>
        <c:axId val="88464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49136"/>
        <c:crosses val="autoZero"/>
        <c:auto val="1"/>
        <c:lblAlgn val="ctr"/>
        <c:lblOffset val="100"/>
        <c:noMultiLvlLbl val="0"/>
      </c:catAx>
      <c:valAx>
        <c:axId val="88464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464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Inertia Systems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strRef>
              <c:f>Sheet2!$B$1</c:f>
              <c:strCache>
                <c:ptCount val="1"/>
                <c:pt idx="0">
                  <c:v>#1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Sheet2!$B$2:$B$25</c:f>
              <c:numCache>
                <c:formatCode>General</c:formatCode>
                <c:ptCount val="24"/>
                <c:pt idx="0">
                  <c:v>505.49999999999994</c:v>
                </c:pt>
                <c:pt idx="1">
                  <c:v>505.49999999999994</c:v>
                </c:pt>
                <c:pt idx="2">
                  <c:v>505.49999999999994</c:v>
                </c:pt>
                <c:pt idx="3">
                  <c:v>505.49999999999994</c:v>
                </c:pt>
                <c:pt idx="4">
                  <c:v>505.49999999999994</c:v>
                </c:pt>
                <c:pt idx="5">
                  <c:v>505.49999999999994</c:v>
                </c:pt>
                <c:pt idx="6">
                  <c:v>505.49999999999994</c:v>
                </c:pt>
                <c:pt idx="7">
                  <c:v>505.49999999999994</c:v>
                </c:pt>
                <c:pt idx="8">
                  <c:v>505.49999999999994</c:v>
                </c:pt>
                <c:pt idx="9">
                  <c:v>505.49999999999994</c:v>
                </c:pt>
                <c:pt idx="10">
                  <c:v>518.46</c:v>
                </c:pt>
                <c:pt idx="11">
                  <c:v>518.46</c:v>
                </c:pt>
                <c:pt idx="12">
                  <c:v>505.49999999999994</c:v>
                </c:pt>
                <c:pt idx="13">
                  <c:v>518.46</c:v>
                </c:pt>
                <c:pt idx="14">
                  <c:v>534.06000000000006</c:v>
                </c:pt>
                <c:pt idx="15">
                  <c:v>521.1</c:v>
                </c:pt>
                <c:pt idx="16">
                  <c:v>521.1</c:v>
                </c:pt>
                <c:pt idx="17">
                  <c:v>505.49999999999994</c:v>
                </c:pt>
                <c:pt idx="18">
                  <c:v>518.46</c:v>
                </c:pt>
                <c:pt idx="19">
                  <c:v>534.06000000000006</c:v>
                </c:pt>
                <c:pt idx="20">
                  <c:v>534.06000000000006</c:v>
                </c:pt>
                <c:pt idx="21">
                  <c:v>518.46</c:v>
                </c:pt>
                <c:pt idx="22">
                  <c:v>505.49999999999994</c:v>
                </c:pt>
                <c:pt idx="23">
                  <c:v>505.49999999999994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39-45A3-B85E-0898A77841EA}"/>
            </c:ext>
          </c:extLst>
        </c:ser>
        <c:ser>
          <c:idx val="2"/>
          <c:order val="1"/>
          <c:tx>
            <c:strRef>
              <c:f>Sheet2!$C$1</c:f>
              <c:strCache>
                <c:ptCount val="1"/>
                <c:pt idx="0">
                  <c:v>#2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Sheet2!$C$2:$C$25</c:f>
              <c:numCache>
                <c:formatCode>General</c:formatCode>
                <c:ptCount val="24"/>
                <c:pt idx="0">
                  <c:v>505.49999999999994</c:v>
                </c:pt>
                <c:pt idx="1">
                  <c:v>505.49999999999994</c:v>
                </c:pt>
                <c:pt idx="2">
                  <c:v>505.49999999999994</c:v>
                </c:pt>
                <c:pt idx="3">
                  <c:v>505.49999999999994</c:v>
                </c:pt>
                <c:pt idx="4">
                  <c:v>505.49999999999994</c:v>
                </c:pt>
                <c:pt idx="5">
                  <c:v>505.49999999999994</c:v>
                </c:pt>
                <c:pt idx="6">
                  <c:v>505.49999999999994</c:v>
                </c:pt>
                <c:pt idx="7">
                  <c:v>505.49999999999994</c:v>
                </c:pt>
                <c:pt idx="8">
                  <c:v>505.49999999999994</c:v>
                </c:pt>
                <c:pt idx="9">
                  <c:v>505.49999999999994</c:v>
                </c:pt>
                <c:pt idx="10">
                  <c:v>521.1</c:v>
                </c:pt>
                <c:pt idx="11">
                  <c:v>521.1</c:v>
                </c:pt>
                <c:pt idx="12">
                  <c:v>521.1</c:v>
                </c:pt>
                <c:pt idx="13">
                  <c:v>521.1</c:v>
                </c:pt>
                <c:pt idx="14">
                  <c:v>534.06000000000006</c:v>
                </c:pt>
                <c:pt idx="15">
                  <c:v>534.06000000000006</c:v>
                </c:pt>
                <c:pt idx="16">
                  <c:v>521.1</c:v>
                </c:pt>
                <c:pt idx="17">
                  <c:v>521.1</c:v>
                </c:pt>
                <c:pt idx="18">
                  <c:v>521.1</c:v>
                </c:pt>
                <c:pt idx="19">
                  <c:v>534.06000000000006</c:v>
                </c:pt>
                <c:pt idx="20">
                  <c:v>534.06000000000006</c:v>
                </c:pt>
                <c:pt idx="21">
                  <c:v>521.1</c:v>
                </c:pt>
                <c:pt idx="22">
                  <c:v>505.49999999999994</c:v>
                </c:pt>
                <c:pt idx="23">
                  <c:v>505.49999999999994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39-45A3-B85E-0898A77841EA}"/>
            </c:ext>
          </c:extLst>
        </c:ser>
        <c:ser>
          <c:idx val="3"/>
          <c:order val="2"/>
          <c:tx>
            <c:strRef>
              <c:f>Sheet2!$D$1</c:f>
              <c:strCache>
                <c:ptCount val="1"/>
                <c:pt idx="0">
                  <c:v>#3</c:v>
                </c:pt>
              </c:strCache>
            </c:strRef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Sheet2!$D$2:$D$25</c:f>
              <c:numCache>
                <c:formatCode>General</c:formatCode>
                <c:ptCount val="24"/>
                <c:pt idx="0">
                  <c:v>651.30000000000007</c:v>
                </c:pt>
                <c:pt idx="1">
                  <c:v>651.30000000000007</c:v>
                </c:pt>
                <c:pt idx="2">
                  <c:v>651.30000000000007</c:v>
                </c:pt>
                <c:pt idx="3">
                  <c:v>651.30000000000007</c:v>
                </c:pt>
                <c:pt idx="4">
                  <c:v>651.30000000000007</c:v>
                </c:pt>
                <c:pt idx="5">
                  <c:v>651.30000000000007</c:v>
                </c:pt>
                <c:pt idx="6">
                  <c:v>651.30000000000007</c:v>
                </c:pt>
                <c:pt idx="7">
                  <c:v>651.30000000000007</c:v>
                </c:pt>
                <c:pt idx="8">
                  <c:v>651.30000000000007</c:v>
                </c:pt>
                <c:pt idx="9">
                  <c:v>651.30000000000007</c:v>
                </c:pt>
                <c:pt idx="10">
                  <c:v>651.30000000000007</c:v>
                </c:pt>
                <c:pt idx="11">
                  <c:v>651.30000000000007</c:v>
                </c:pt>
                <c:pt idx="12">
                  <c:v>651.30000000000007</c:v>
                </c:pt>
                <c:pt idx="13">
                  <c:v>651.30000000000007</c:v>
                </c:pt>
                <c:pt idx="14">
                  <c:v>651.30000000000007</c:v>
                </c:pt>
                <c:pt idx="15">
                  <c:v>651.30000000000007</c:v>
                </c:pt>
                <c:pt idx="16">
                  <c:v>651.30000000000007</c:v>
                </c:pt>
                <c:pt idx="17">
                  <c:v>651.30000000000007</c:v>
                </c:pt>
                <c:pt idx="18">
                  <c:v>651.30000000000007</c:v>
                </c:pt>
                <c:pt idx="19">
                  <c:v>651.30000000000007</c:v>
                </c:pt>
                <c:pt idx="20">
                  <c:v>651.30000000000007</c:v>
                </c:pt>
                <c:pt idx="21">
                  <c:v>651.30000000000007</c:v>
                </c:pt>
                <c:pt idx="22">
                  <c:v>505.49999999999994</c:v>
                </c:pt>
                <c:pt idx="23">
                  <c:v>505.49999999999994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39-45A3-B85E-0898A77841EA}"/>
            </c:ext>
          </c:extLst>
        </c:ser>
        <c:ser>
          <c:idx val="4"/>
          <c:order val="3"/>
          <c:tx>
            <c:strRef>
              <c:f>Sheet2!$E$1</c:f>
              <c:strCache>
                <c:ptCount val="1"/>
                <c:pt idx="0">
                  <c:v>#4</c:v>
                </c:pt>
              </c:strCache>
            </c:strRef>
          </c:tx>
          <c:spPr>
            <a:ln w="22225" cap="rnd">
              <a:solidFill>
                <a:schemeClr val="accent5"/>
              </a:solidFill>
            </a:ln>
            <a:effectLst>
              <a:glow rad="139700">
                <a:schemeClr val="accent5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Sheet2!$E$2:$E$25</c:f>
              <c:numCache>
                <c:formatCode>General</c:formatCode>
                <c:ptCount val="24"/>
                <c:pt idx="0">
                  <c:v>651.30000000000007</c:v>
                </c:pt>
                <c:pt idx="1">
                  <c:v>651.30000000000007</c:v>
                </c:pt>
                <c:pt idx="2">
                  <c:v>651.30000000000007</c:v>
                </c:pt>
                <c:pt idx="3">
                  <c:v>651.30000000000007</c:v>
                </c:pt>
                <c:pt idx="4">
                  <c:v>651.30000000000007</c:v>
                </c:pt>
                <c:pt idx="5">
                  <c:v>651.30000000000007</c:v>
                </c:pt>
                <c:pt idx="6">
                  <c:v>651.30000000000007</c:v>
                </c:pt>
                <c:pt idx="7">
                  <c:v>651.30000000000007</c:v>
                </c:pt>
                <c:pt idx="8">
                  <c:v>651.30000000000007</c:v>
                </c:pt>
                <c:pt idx="9">
                  <c:v>790.44</c:v>
                </c:pt>
                <c:pt idx="10">
                  <c:v>790.44</c:v>
                </c:pt>
                <c:pt idx="11">
                  <c:v>790.44</c:v>
                </c:pt>
                <c:pt idx="12">
                  <c:v>790.44</c:v>
                </c:pt>
                <c:pt idx="13">
                  <c:v>790.44</c:v>
                </c:pt>
                <c:pt idx="14">
                  <c:v>790.44</c:v>
                </c:pt>
                <c:pt idx="15">
                  <c:v>790.44</c:v>
                </c:pt>
                <c:pt idx="16">
                  <c:v>790.44</c:v>
                </c:pt>
                <c:pt idx="17">
                  <c:v>790.44</c:v>
                </c:pt>
                <c:pt idx="18">
                  <c:v>790.44</c:v>
                </c:pt>
                <c:pt idx="19">
                  <c:v>790.44</c:v>
                </c:pt>
                <c:pt idx="20">
                  <c:v>790.44</c:v>
                </c:pt>
                <c:pt idx="21">
                  <c:v>790.44</c:v>
                </c:pt>
                <c:pt idx="22">
                  <c:v>790.44</c:v>
                </c:pt>
                <c:pt idx="23">
                  <c:v>651.30000000000007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539-45A3-B85E-0898A77841EA}"/>
            </c:ext>
          </c:extLst>
        </c:ser>
        <c:ser>
          <c:idx val="5"/>
          <c:order val="4"/>
          <c:tx>
            <c:strRef>
              <c:f>Sheet2!$F$1</c:f>
              <c:strCache>
                <c:ptCount val="1"/>
                <c:pt idx="0">
                  <c:v>#5</c:v>
                </c:pt>
              </c:strCache>
            </c:strRef>
          </c:tx>
          <c:spPr>
            <a:ln w="22225" cap="rnd">
              <a:solidFill>
                <a:schemeClr val="accent6"/>
              </a:solidFill>
            </a:ln>
            <a:effectLst>
              <a:glow rad="139700">
                <a:schemeClr val="accent6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Sheet2!$F$2:$F$25</c:f>
              <c:numCache>
                <c:formatCode>General</c:formatCode>
                <c:ptCount val="24"/>
                <c:pt idx="0">
                  <c:v>992.94</c:v>
                </c:pt>
                <c:pt idx="1">
                  <c:v>853.80000000000007</c:v>
                </c:pt>
                <c:pt idx="2">
                  <c:v>853.80000000000007</c:v>
                </c:pt>
                <c:pt idx="3">
                  <c:v>853.80000000000007</c:v>
                </c:pt>
                <c:pt idx="4">
                  <c:v>853.80000000000007</c:v>
                </c:pt>
                <c:pt idx="5">
                  <c:v>853.80000000000007</c:v>
                </c:pt>
                <c:pt idx="6">
                  <c:v>853.80000000000007</c:v>
                </c:pt>
                <c:pt idx="7">
                  <c:v>853.80000000000007</c:v>
                </c:pt>
                <c:pt idx="8">
                  <c:v>853.80000000000007</c:v>
                </c:pt>
                <c:pt idx="9">
                  <c:v>853.80000000000007</c:v>
                </c:pt>
                <c:pt idx="10">
                  <c:v>853.80000000000007</c:v>
                </c:pt>
                <c:pt idx="11">
                  <c:v>853.80000000000007</c:v>
                </c:pt>
                <c:pt idx="12">
                  <c:v>853.80000000000007</c:v>
                </c:pt>
                <c:pt idx="13">
                  <c:v>853.80000000000007</c:v>
                </c:pt>
                <c:pt idx="14">
                  <c:v>853.80000000000007</c:v>
                </c:pt>
                <c:pt idx="15">
                  <c:v>853.80000000000007</c:v>
                </c:pt>
                <c:pt idx="16">
                  <c:v>853.80000000000007</c:v>
                </c:pt>
                <c:pt idx="17">
                  <c:v>853.80000000000007</c:v>
                </c:pt>
                <c:pt idx="18">
                  <c:v>853.80000000000007</c:v>
                </c:pt>
                <c:pt idx="19">
                  <c:v>853.80000000000007</c:v>
                </c:pt>
                <c:pt idx="20">
                  <c:v>853.80000000000007</c:v>
                </c:pt>
                <c:pt idx="21">
                  <c:v>853.80000000000007</c:v>
                </c:pt>
                <c:pt idx="22">
                  <c:v>708</c:v>
                </c:pt>
                <c:pt idx="23">
                  <c:v>708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539-45A3-B85E-0898A77841EA}"/>
            </c:ext>
          </c:extLst>
        </c:ser>
        <c:ser>
          <c:idx val="0"/>
          <c:order val="5"/>
          <c:tx>
            <c:strRef>
              <c:f>Sheet2!$G$1</c:f>
              <c:strCache>
                <c:ptCount val="1"/>
                <c:pt idx="0">
                  <c:v>#6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Sheet2!$G$2:$G$25</c:f>
              <c:numCache>
                <c:formatCode>General</c:formatCode>
                <c:ptCount val="24"/>
                <c:pt idx="0">
                  <c:v>853.80000000000007</c:v>
                </c:pt>
                <c:pt idx="1">
                  <c:v>853.80000000000007</c:v>
                </c:pt>
                <c:pt idx="2">
                  <c:v>853.80000000000007</c:v>
                </c:pt>
                <c:pt idx="3">
                  <c:v>853.80000000000007</c:v>
                </c:pt>
                <c:pt idx="4">
                  <c:v>853.80000000000007</c:v>
                </c:pt>
                <c:pt idx="5">
                  <c:v>853.80000000000007</c:v>
                </c:pt>
                <c:pt idx="6">
                  <c:v>853.80000000000007</c:v>
                </c:pt>
                <c:pt idx="7">
                  <c:v>853.80000000000007</c:v>
                </c:pt>
                <c:pt idx="8">
                  <c:v>853.80000000000007</c:v>
                </c:pt>
                <c:pt idx="9">
                  <c:v>853.80000000000007</c:v>
                </c:pt>
                <c:pt idx="10">
                  <c:v>853.80000000000007</c:v>
                </c:pt>
                <c:pt idx="11">
                  <c:v>853.80000000000007</c:v>
                </c:pt>
                <c:pt idx="12">
                  <c:v>853.80000000000007</c:v>
                </c:pt>
                <c:pt idx="13">
                  <c:v>853.80000000000007</c:v>
                </c:pt>
                <c:pt idx="14">
                  <c:v>853.80000000000007</c:v>
                </c:pt>
                <c:pt idx="15">
                  <c:v>853.80000000000007</c:v>
                </c:pt>
                <c:pt idx="16">
                  <c:v>853.80000000000007</c:v>
                </c:pt>
                <c:pt idx="17">
                  <c:v>853.80000000000007</c:v>
                </c:pt>
                <c:pt idx="18">
                  <c:v>853.80000000000007</c:v>
                </c:pt>
                <c:pt idx="19">
                  <c:v>853.80000000000007</c:v>
                </c:pt>
                <c:pt idx="20">
                  <c:v>853.80000000000007</c:v>
                </c:pt>
                <c:pt idx="21">
                  <c:v>853.80000000000007</c:v>
                </c:pt>
                <c:pt idx="22">
                  <c:v>853.80000000000007</c:v>
                </c:pt>
                <c:pt idx="23">
                  <c:v>853.80000000000007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539-45A3-B85E-0898A77841EA}"/>
            </c:ext>
          </c:extLst>
        </c:ser>
        <c:ser>
          <c:idx val="6"/>
          <c:order val="6"/>
          <c:tx>
            <c:strRef>
              <c:f>Sheet2!$H$1</c:f>
              <c:strCache>
                <c:ptCount val="1"/>
                <c:pt idx="0">
                  <c:v>#7</c:v>
                </c:pt>
              </c:strCache>
            </c:strRef>
          </c:tx>
          <c:spPr>
            <a:ln w="22225" cap="rnd">
              <a:solidFill>
                <a:schemeClr val="accent1">
                  <a:lumMod val="60000"/>
                </a:schemeClr>
              </a:solidFill>
            </a:ln>
            <a:effectLst>
              <a:glow rad="139700">
                <a:schemeClr val="accent1">
                  <a:lumMod val="60000"/>
                  <a:satMod val="175000"/>
                  <a:alpha val="14000"/>
                </a:schemeClr>
              </a:glow>
            </a:effectLst>
          </c:spPr>
          <c:marker>
            <c:symbol val="none"/>
          </c:marker>
          <c:val>
            <c:numRef>
              <c:f>Sheet2!$H$2:$H$25</c:f>
              <c:numCache>
                <c:formatCode>General</c:formatCode>
                <c:ptCount val="24"/>
                <c:pt idx="0">
                  <c:v>708</c:v>
                </c:pt>
                <c:pt idx="1">
                  <c:v>708</c:v>
                </c:pt>
                <c:pt idx="2">
                  <c:v>708</c:v>
                </c:pt>
                <c:pt idx="3">
                  <c:v>708</c:v>
                </c:pt>
                <c:pt idx="4">
                  <c:v>708</c:v>
                </c:pt>
                <c:pt idx="5">
                  <c:v>708</c:v>
                </c:pt>
                <c:pt idx="6">
                  <c:v>708</c:v>
                </c:pt>
                <c:pt idx="7">
                  <c:v>708</c:v>
                </c:pt>
                <c:pt idx="8">
                  <c:v>708</c:v>
                </c:pt>
                <c:pt idx="9">
                  <c:v>708</c:v>
                </c:pt>
                <c:pt idx="10">
                  <c:v>723.6</c:v>
                </c:pt>
                <c:pt idx="11">
                  <c:v>723.6</c:v>
                </c:pt>
                <c:pt idx="12">
                  <c:v>723.6</c:v>
                </c:pt>
                <c:pt idx="13">
                  <c:v>723.6</c:v>
                </c:pt>
                <c:pt idx="14">
                  <c:v>723.6</c:v>
                </c:pt>
                <c:pt idx="15">
                  <c:v>723.6</c:v>
                </c:pt>
                <c:pt idx="16">
                  <c:v>723.6</c:v>
                </c:pt>
                <c:pt idx="17">
                  <c:v>723.6</c:v>
                </c:pt>
                <c:pt idx="18">
                  <c:v>736.56000000000006</c:v>
                </c:pt>
                <c:pt idx="19">
                  <c:v>736.56000000000006</c:v>
                </c:pt>
                <c:pt idx="20">
                  <c:v>723.6</c:v>
                </c:pt>
                <c:pt idx="21">
                  <c:v>723.6</c:v>
                </c:pt>
                <c:pt idx="22">
                  <c:v>708</c:v>
                </c:pt>
                <c:pt idx="23">
                  <c:v>708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539-45A3-B85E-0898A7784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3764000"/>
        <c:axId val="618135919"/>
      </c:lineChart>
      <c:catAx>
        <c:axId val="129376400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Hour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8135919"/>
        <c:crosses val="autoZero"/>
        <c:auto val="1"/>
        <c:lblAlgn val="ctr"/>
        <c:lblOffset val="100"/>
        <c:noMultiLvlLbl val="0"/>
      </c:catAx>
      <c:valAx>
        <c:axId val="618135919"/>
        <c:scaling>
          <c:orientation val="minMax"/>
          <c:max val="1000"/>
          <c:min val="50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D"/>
                  <a:t>Inertia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376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A952-36F0-450B-A6A9-C37DA8FFF1D4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D954F-A38D-463E-BBC0-DD01506C9C7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233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4D10-BBE9-D441-EA20-5548CF9FA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F9DC3-F844-87E7-9081-E574EC047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1EE9-C1E0-E994-DE92-378E4BD2B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46111-780E-39BC-EF4E-0391319E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6878C-0904-C154-3929-8F022242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745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A757-F438-12D8-8C08-C5AE8C22D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29AE2-89C0-7CDE-4B0B-59E5100F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C9A7-4614-AB68-FC87-0A1E9C8E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3BB2F-51DC-83AB-7338-91F2D86E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FACB-63DD-9228-5DC6-1DF9C0BD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4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47F7B-F20F-663A-2BC4-AE7E9F1D1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C519B-E52D-28FC-1378-C613E5D50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48E21-2E2E-AAD2-8264-FCCE7087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D38C-1A6D-9014-63C8-8BC2D411F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FC77B-7377-D457-BAD7-6B3B0794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608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21D8-64D7-D420-5D95-976EEC03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AFD9-F0B5-27EE-46E1-E2FF2F42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1EB3A-1FAD-C0CD-8C63-5AF16B515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8DEAF-BD67-0C26-2E71-EAD5214A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DF105-452D-0147-8988-116487FC2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0E7FE-42AE-0FBC-9E49-2111CFCB1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144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5AE3-3DAA-C504-1848-1E5B4EF7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2C255-4EDE-5031-1706-F70DE3F38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1A749-F023-0DB9-868C-D4E03E46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CE993-FD37-73DE-60CB-392AE248E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59581-88D1-018B-2EC9-BC81C6D82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8E193-FFE5-5536-F583-46C0581A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DCFA8-7E2D-A53A-E349-3923B6C6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273902-981E-B560-64C2-A353D5FC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1767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FF02-8121-D13C-4479-C0DE53799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932C5-1F31-C718-1C51-4616F260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C00D1D-0AC1-E5D9-7985-AFC1B25D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A4ED-1444-5EAE-D664-859011ED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106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7C629-374D-B05E-0CC5-AFDE3BB0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CE69B4-E1F7-AC94-6C8D-7CF3AD53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468A1-B1E7-F6C4-D747-1043B4D5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438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2115-7400-1418-F00F-A4D180B1A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F2E35-86C7-D259-A292-6A85B5EA9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C151E-BEE1-BAEE-2758-3466E12CE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67839-FF20-F7BC-4413-F4A62F6C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C6699-8B6C-5128-7602-07C37C6B2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B93CB-E759-B72D-D162-77ACDDBD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61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1239-E983-97FA-E54F-F46012F5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E01239-906B-C18F-AE40-EF753F9970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CBD4D-2012-D0C7-403A-4248C128D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A8A2-8794-29CA-B811-B2910EA7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BB48-54F1-8E4A-2166-B0BCE8F6E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6F565-E7D0-6DB3-9AF4-2294D7F8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354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978A-4CEE-B5D6-03C8-85E6B550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887B9-958F-6EC4-B6D5-E96E77D9B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74D00-BAA5-55F3-1971-67C109EC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103FB-0877-06F8-C654-EAAB2F78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A1C-2298-8F6B-D3A2-445B1F7B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983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FA9504-D966-FC02-A94A-CFF295816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C109-14C1-647A-A184-DAFA7E720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EDADB-C4D3-C1AB-F20B-361B7104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5ECD-8962-187A-A8C6-7181BC350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0EED5-BE3D-ED17-AE93-89DFABFD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337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863A0-4F6D-6662-4604-96D2E79BB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21BF7-17C9-15CB-9A52-623C8EB3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1E74F-7F5C-8EAB-4210-19B5018468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330B3-0D02-44DC-877D-A1E10694BC01}" type="datetimeFigureOut">
              <a:rPr lang="en-ID" smtClean="0"/>
              <a:t>11/06/2026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A386C-31B1-D16D-3CBD-7F665B6CD9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C9336-DFC1-D3B1-3CCE-630A5F422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0B4A9-4CB9-40EC-8F86-4E5FDE4851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4849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FE4558-9E09-D4E3-8B10-944BE4E7AF97}"/>
              </a:ext>
            </a:extLst>
          </p:cNvPr>
          <p:cNvSpPr txBox="1"/>
          <p:nvPr/>
        </p:nvSpPr>
        <p:spPr>
          <a:xfrm>
            <a:off x="3787515" y="778938"/>
            <a:ext cx="46169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err="1"/>
              <a:t>Simulasi</a:t>
            </a:r>
            <a:r>
              <a:rPr lang="en-US" sz="2800" b="1" dirty="0"/>
              <a:t> Unit Commitment</a:t>
            </a:r>
            <a:endParaRPr lang="en-US" sz="20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C6EA94D-9E61-BEB1-5256-CBFB00AE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1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999EC-8332-ABD6-F3FC-170BD31CE67E}"/>
              </a:ext>
            </a:extLst>
          </p:cNvPr>
          <p:cNvSpPr txBox="1"/>
          <p:nvPr/>
        </p:nvSpPr>
        <p:spPr>
          <a:xfrm>
            <a:off x="4656343" y="3333674"/>
            <a:ext cx="2879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Oleh:</a:t>
            </a:r>
          </a:p>
          <a:p>
            <a:pPr algn="ctr"/>
            <a:r>
              <a:rPr lang="en-US" dirty="0"/>
              <a:t>Muhammad Aris Risnandar</a:t>
            </a:r>
          </a:p>
          <a:p>
            <a:pPr algn="ctr"/>
            <a:r>
              <a:rPr lang="en-US" dirty="0"/>
              <a:t>NIM: 25/571656/STK/01375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66075B-ABB0-4B30-46F3-2C92A81A3DDA}"/>
              </a:ext>
            </a:extLst>
          </p:cNvPr>
          <p:cNvSpPr txBox="1"/>
          <p:nvPr/>
        </p:nvSpPr>
        <p:spPr>
          <a:xfrm>
            <a:off x="1821432" y="4553883"/>
            <a:ext cx="85491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Program Studi </a:t>
            </a:r>
            <a:r>
              <a:rPr lang="en-US" sz="2800" b="1" dirty="0" err="1"/>
              <a:t>Doktor</a:t>
            </a:r>
            <a:r>
              <a:rPr lang="en-US" sz="2800" b="1" dirty="0"/>
              <a:t> Teknik Elektro</a:t>
            </a:r>
          </a:p>
          <a:p>
            <a:pPr algn="ctr"/>
            <a:r>
              <a:rPr lang="en-US" sz="2800" b="1" dirty="0" err="1"/>
              <a:t>Departemen</a:t>
            </a:r>
            <a:r>
              <a:rPr lang="en-US" sz="2800" b="1" dirty="0"/>
              <a:t> Teknik Elektro dan </a:t>
            </a:r>
            <a:r>
              <a:rPr lang="en-US" sz="2800" b="1" dirty="0" err="1"/>
              <a:t>Teknologi</a:t>
            </a:r>
            <a:r>
              <a:rPr lang="en-US" sz="2800" b="1" dirty="0"/>
              <a:t> </a:t>
            </a:r>
            <a:r>
              <a:rPr lang="en-US" sz="2800" b="1" dirty="0" err="1"/>
              <a:t>Informasi</a:t>
            </a:r>
            <a:endParaRPr lang="en-US" sz="2800" b="1" dirty="0"/>
          </a:p>
          <a:p>
            <a:pPr algn="ctr"/>
            <a:r>
              <a:rPr lang="en-US" sz="2800" b="1" dirty="0"/>
              <a:t>Universitas Gadjah Mada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10 Juni 2026</a:t>
            </a:r>
            <a:endParaRPr lang="en-ID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511229-DE1F-AE3C-AB6B-54A4501C8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9333" y="1435432"/>
            <a:ext cx="1693334" cy="17649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FBF02F-4F1C-CE49-F633-27CFAD01F307}"/>
              </a:ext>
            </a:extLst>
          </p:cNvPr>
          <p:cNvSpPr txBox="1"/>
          <p:nvPr/>
        </p:nvSpPr>
        <p:spPr>
          <a:xfrm>
            <a:off x="5070847" y="356933"/>
            <a:ext cx="2050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Progress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A2765-6232-5CDE-218F-B4F67B9EE7B4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81DA5-C252-F83C-E390-725BD2DF9E0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56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714C5-A8F1-BE7A-9542-1804954A3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000DF2-D26B-AD6B-4998-48AB24CF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</a:t>
            </a:fld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E87249-0DD8-0AC7-2A17-03A02FD89084}"/>
                  </a:ext>
                </a:extLst>
              </p:cNvPr>
              <p:cNvSpPr txBox="1"/>
              <p:nvPr/>
            </p:nvSpPr>
            <p:spPr>
              <a:xfrm>
                <a:off x="3395134" y="400110"/>
                <a:ext cx="3763431" cy="6474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Limit: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Minimum Up/Down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𝑑𝑜𝑤𝑛</m:t>
                              </m:r>
                            </m:sup>
                          </m:sSubSup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𝑢𝑝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/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Ramp Up/Down: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N-1 Spinning Reserve:</a:t>
                </a: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Headroom SR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b="0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</m:eqAr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E87249-0DD8-0AC7-2A17-03A02FD89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134" y="400110"/>
                <a:ext cx="3763431" cy="6474529"/>
              </a:xfrm>
              <a:prstGeom prst="rect">
                <a:avLst/>
              </a:prstGeom>
              <a:blipFill>
                <a:blip r:embed="rId2"/>
                <a:stretch>
                  <a:fillRect l="-972" t="-28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92E0F-F1A2-6F2E-2711-555690C0EF0A}"/>
                  </a:ext>
                </a:extLst>
              </p:cNvPr>
              <p:cNvSpPr txBox="1"/>
              <p:nvPr/>
            </p:nvSpPr>
            <p:spPr>
              <a:xfrm>
                <a:off x="6959601" y="400110"/>
                <a:ext cx="5232400" cy="3026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Dynamic Frequency Security: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𝑚𝑎𝑥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−2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𝑓𝐷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−4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𝑛𝑎𝑑𝑖𝑟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𝑚𝑖𝑛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192E0F-F1A2-6F2E-2711-555690C0E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1" y="400110"/>
                <a:ext cx="5232400" cy="3026726"/>
              </a:xfrm>
              <a:prstGeom prst="rect">
                <a:avLst/>
              </a:prstGeom>
              <a:blipFill>
                <a:blip r:embed="rId3"/>
                <a:stretch>
                  <a:fillRect l="-699" t="-6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554CAA-50D7-693B-829E-C42BC439E19B}"/>
                  </a:ext>
                </a:extLst>
              </p:cNvPr>
              <p:cNvSpPr txBox="1"/>
              <p:nvPr/>
            </p:nvSpPr>
            <p:spPr>
              <a:xfrm>
                <a:off x="-8465" y="400110"/>
                <a:ext cx="3259666" cy="1589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Fungsi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Objektif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D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D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C554CAA-50D7-693B-829E-C42BC439E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5" y="400110"/>
                <a:ext cx="3259666" cy="1589025"/>
              </a:xfrm>
              <a:prstGeom prst="rect">
                <a:avLst/>
              </a:prstGeom>
              <a:blipFill>
                <a:blip r:embed="rId4"/>
                <a:stretch>
                  <a:fillRect l="-1124" t="-115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874AD0-DCE9-7B38-CE48-628F255FB191}"/>
              </a:ext>
            </a:extLst>
          </p:cNvPr>
          <p:cNvCxnSpPr/>
          <p:nvPr/>
        </p:nvCxnSpPr>
        <p:spPr>
          <a:xfrm>
            <a:off x="6807200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5F16B2-D840-8159-37C0-0703E5F4CBBB}"/>
              </a:ext>
            </a:extLst>
          </p:cNvPr>
          <p:cNvCxnSpPr/>
          <p:nvPr/>
        </p:nvCxnSpPr>
        <p:spPr>
          <a:xfrm>
            <a:off x="3395134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411368-7101-B461-FB25-302D0DC85C0C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</a:p>
        </p:txBody>
      </p:sp>
    </p:spTree>
    <p:extLst>
      <p:ext uri="{BB962C8B-B14F-4D97-AF65-F5344CB8AC3E}">
        <p14:creationId xmlns:p14="http://schemas.microsoft.com/office/powerpoint/2010/main" val="936920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21BB-1FB8-4DA5-AE55-C995B84A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DE7920-6645-49BA-BE00-D8FF5631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</a:t>
            </a:fld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4A6FB-C67B-05D5-94AE-8E658110715F}"/>
                  </a:ext>
                </a:extLst>
              </p:cNvPr>
              <p:cNvSpPr txBox="1"/>
              <p:nvPr/>
            </p:nvSpPr>
            <p:spPr>
              <a:xfrm>
                <a:off x="6798734" y="307777"/>
                <a:ext cx="5393266" cy="5153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Battery: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𝑖𝑛𝑖𝑡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𝑓𝑖𝑛𝑎𝑙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                 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=24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74A6FB-C67B-05D5-94AE-8E6581107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734" y="307777"/>
                <a:ext cx="5393266" cy="5153334"/>
              </a:xfrm>
              <a:prstGeom prst="rect">
                <a:avLst/>
              </a:prstGeom>
              <a:blipFill>
                <a:blip r:embed="rId2"/>
                <a:stretch>
                  <a:fillRect l="-565" t="-35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599C6DD-A5B4-8128-4048-E6590E0CD6B3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6824E7-42BE-834A-A687-A357FBB7178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68E322-A9BF-5BBF-E503-CF9628AD0308}"/>
              </a:ext>
            </a:extLst>
          </p:cNvPr>
          <p:cNvCxnSpPr/>
          <p:nvPr/>
        </p:nvCxnSpPr>
        <p:spPr>
          <a:xfrm>
            <a:off x="6417733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93ECCC-4A13-896E-8C8C-30DF93EFC2B2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6096000" cy="56396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Steady Primary Frequency:</a:t>
                </a: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Steady-state frequency limit: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𝑠𝑠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Primary Frequency Response: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6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PFR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Availibility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Primary Frequency Security: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eqAr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𝑃𝐹𝑅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</m:eqAr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>
                  <a:tabLst>
                    <a:tab pos="541338" algn="l"/>
                    <a:tab pos="711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Droop (MW/Hz)</a:t>
                </a:r>
              </a:p>
              <a:p>
                <a:pPr algn="just">
                  <a:tabLst>
                    <a:tab pos="541338" algn="l"/>
                    <a:tab pos="711200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Primary ramp capability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saat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E93ECCC-4A13-896E-8C8C-30DF93EFC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6096000" cy="5639621"/>
              </a:xfrm>
              <a:prstGeom prst="rect">
                <a:avLst/>
              </a:prstGeom>
              <a:blipFill>
                <a:blip r:embed="rId3"/>
                <a:stretch>
                  <a:fillRect l="-500" t="-324" b="-7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4550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C6A6-666A-A9BA-016B-07054B2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47987-6E3F-F7C2-D5C4-1AC1ABD9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4</a:t>
            </a:fld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20CB4-F554-1DA5-16E3-3BFC2DD3FCA0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D3751-01EE-8C81-0074-D6E0AC01433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(3)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B1905BE-F155-8B89-A319-4DAA3334AD2B}"/>
              </a:ext>
            </a:extLst>
          </p:cNvPr>
          <p:cNvCxnSpPr/>
          <p:nvPr/>
        </p:nvCxnSpPr>
        <p:spPr>
          <a:xfrm>
            <a:off x="6417733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FCD52F-5C00-AEBE-565C-3ED08144422C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6096000" cy="364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Wind Turbine:</a:t>
                </a: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Available: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𝑤𝑡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Curtailment: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WT used: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𝑢𝑠𝑒𝑑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𝑢𝑠𝑒𝑑</m:t>
                              </m:r>
                            </m:sup>
                          </m:sSubSup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FCD52F-5C00-AEBE-565C-3ED081444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6096000" cy="3647665"/>
              </a:xfrm>
              <a:prstGeom prst="rect">
                <a:avLst/>
              </a:prstGeom>
              <a:blipFill>
                <a:blip r:embed="rId2"/>
                <a:stretch>
                  <a:fillRect l="-500" t="-5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79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3F1AB-3878-07A0-89B8-F93F1D5DE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F40D11C-C86A-13B3-0CE3-2426445A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5</a:t>
            </a:fld>
            <a:endParaRPr lang="en-ID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58DFEA-83D6-D032-16F7-F83C6212D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545524"/>
              </p:ext>
            </p:extLst>
          </p:nvPr>
        </p:nvGraphicFramePr>
        <p:xfrm>
          <a:off x="135468" y="452120"/>
          <a:ext cx="5164665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5">
                  <a:extLst>
                    <a:ext uri="{9D8B030D-6E8A-4147-A177-3AD203B41FA5}">
                      <a16:colId xmlns:a16="http://schemas.microsoft.com/office/drawing/2014/main" val="14764975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41785409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503795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Coding Candra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Modifikasi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387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consBasicRamp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7107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B013C7-C156-0D87-7634-4BFD057A4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520470"/>
              </p:ext>
            </p:extLst>
          </p:nvPr>
        </p:nvGraphicFramePr>
        <p:xfrm>
          <a:off x="5655733" y="452120"/>
          <a:ext cx="638386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5">
                  <a:extLst>
                    <a:ext uri="{9D8B030D-6E8A-4147-A177-3AD203B41FA5}">
                      <a16:colId xmlns:a16="http://schemas.microsoft.com/office/drawing/2014/main" val="147649757"/>
                    </a:ext>
                  </a:extLst>
                </a:gridCol>
                <a:gridCol w="2235202">
                  <a:extLst>
                    <a:ext uri="{9D8B030D-6E8A-4147-A177-3AD203B41FA5}">
                      <a16:colId xmlns:a16="http://schemas.microsoft.com/office/drawing/2014/main" val="141785409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03795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Coding Candra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Modifikasi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consBasicRamp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consSRContingency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consBasicRamp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consSRContingency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consWorstCaseInertia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con_dynamic_frequency_security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3879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85C138-477F-1773-168A-FDD1A6CF1CA0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7C2E16-7512-17A4-0CDE-4536F976216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Perbandingan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(1)</a:t>
            </a:r>
          </a:p>
        </p:txBody>
      </p:sp>
    </p:spTree>
    <p:extLst>
      <p:ext uri="{BB962C8B-B14F-4D97-AF65-F5344CB8AC3E}">
        <p14:creationId xmlns:p14="http://schemas.microsoft.com/office/powerpoint/2010/main" val="91526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AB971-3BD6-00AD-EDF9-EBEFEF1D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05FC81-2C5A-9AB7-0DA2-C751E6B9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6</a:t>
            </a:fld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9B41B-FA72-63CA-BD66-7A9599B89F86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56F6A-09E0-906E-4FEA-42235AE54D9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Perbandingan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(2)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B188CC-8B31-6DBF-CAEF-32FB79C5B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310355"/>
              </p:ext>
            </p:extLst>
          </p:nvPr>
        </p:nvGraphicFramePr>
        <p:xfrm>
          <a:off x="135468" y="452120"/>
          <a:ext cx="4517214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5">
                  <a:extLst>
                    <a:ext uri="{9D8B030D-6E8A-4147-A177-3AD203B41FA5}">
                      <a16:colId xmlns:a16="http://schemas.microsoft.com/office/drawing/2014/main" val="147649757"/>
                    </a:ext>
                  </a:extLst>
                </a:gridCol>
                <a:gridCol w="1632573">
                  <a:extLst>
                    <a:ext uri="{9D8B030D-6E8A-4147-A177-3AD203B41FA5}">
                      <a16:colId xmlns:a16="http://schemas.microsoft.com/office/drawing/2014/main" val="1417854090"/>
                    </a:ext>
                  </a:extLst>
                </a:gridCol>
                <a:gridCol w="2393576">
                  <a:extLst>
                    <a:ext uri="{9D8B030D-6E8A-4147-A177-3AD203B41FA5}">
                      <a16:colId xmlns:a16="http://schemas.microsoft.com/office/drawing/2014/main" val="2503795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Coding Candra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Modifikasi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consBasicRamp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consSRContingency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consSteadyPrimFreq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con_steady_primary_frequency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12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consInit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consUC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consMUTMDT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consBasicRamp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consSRContingency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consBattery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con_battery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38791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6CFE44-5A03-B9DC-6D71-7ADB1DDF6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533298"/>
              </p:ext>
            </p:extLst>
          </p:nvPr>
        </p:nvGraphicFramePr>
        <p:xfrm>
          <a:off x="4831977" y="468280"/>
          <a:ext cx="7224556" cy="524746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93576">
                  <a:extLst>
                    <a:ext uri="{9D8B030D-6E8A-4147-A177-3AD203B41FA5}">
                      <a16:colId xmlns:a16="http://schemas.microsoft.com/office/drawing/2014/main" val="2422838846"/>
                    </a:ext>
                  </a:extLst>
                </a:gridCol>
                <a:gridCol w="4830980">
                  <a:extLst>
                    <a:ext uri="{9D8B030D-6E8A-4147-A177-3AD203B41FA5}">
                      <a16:colId xmlns:a16="http://schemas.microsoft.com/office/drawing/2014/main" val="1481607946"/>
                    </a:ext>
                  </a:extLst>
                </a:gridCol>
              </a:tblGrid>
              <a:tr h="185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/>
                        <a:t>Constraint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/>
                        <a:t>Fungsi</a:t>
                      </a:r>
                      <a:r>
                        <a:rPr lang="en-ID" sz="1200" b="1" dirty="0"/>
                        <a:t> </a:t>
                      </a:r>
                      <a:r>
                        <a:rPr lang="en-ID" sz="1200" b="1" dirty="0" err="1"/>
                        <a:t>dalam</a:t>
                      </a:r>
                      <a:r>
                        <a:rPr lang="en-ID" sz="1200" b="1" dirty="0"/>
                        <a:t> </a:t>
                      </a:r>
                      <a:r>
                        <a:rPr lang="en-ID" sz="1200" b="1" dirty="0" err="1"/>
                        <a:t>Simulasi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76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Menetapkan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kondisi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awal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sistem</a:t>
                      </a:r>
                      <a:r>
                        <a:rPr lang="en-ID" sz="1200" dirty="0"/>
                        <a:t> (status ON/OFF, output </a:t>
                      </a:r>
                      <a:r>
                        <a:rPr lang="en-ID" sz="1200" dirty="0" err="1"/>
                        <a:t>daya</a:t>
                      </a:r>
                      <a:r>
                        <a:rPr lang="en-ID" sz="1200" dirty="0"/>
                        <a:t>, dan </a:t>
                      </a:r>
                      <a:r>
                        <a:rPr lang="en-ID" sz="1200" dirty="0" err="1"/>
                        <a:t>riwayat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unit) </a:t>
                      </a:r>
                      <a:r>
                        <a:rPr lang="en-ID" sz="1200" dirty="0" err="1"/>
                        <a:t>sebagai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titik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awal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optimasi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1383542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Menentukan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hubungan</a:t>
                      </a:r>
                      <a:r>
                        <a:rPr lang="en-ID" sz="1200" dirty="0"/>
                        <a:t> status ON/OFF </a:t>
                      </a:r>
                      <a:r>
                        <a:rPr lang="en-ID" sz="1200" dirty="0" err="1"/>
                        <a:t>dengan</a:t>
                      </a:r>
                      <a:r>
                        <a:rPr lang="en-ID" sz="1200" dirty="0"/>
                        <a:t> proses startup dan shutdown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99081094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con_power_balance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Menjamin</a:t>
                      </a:r>
                      <a:r>
                        <a:rPr lang="en-ID" sz="1200" dirty="0"/>
                        <a:t> total </a:t>
                      </a:r>
                      <a:r>
                        <a:rPr lang="en-ID" sz="1200" dirty="0" err="1"/>
                        <a:t>daya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pembangkit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kebutuhan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beban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setiap</a:t>
                      </a:r>
                      <a:r>
                        <a:rPr lang="en-ID" sz="1200" dirty="0"/>
                        <a:t> interval </a:t>
                      </a:r>
                      <a:r>
                        <a:rPr lang="en-ID" sz="1200" dirty="0" err="1"/>
                        <a:t>waktu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94143427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con_capacity_upper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output generator tidak melebihi kapasitas maksimum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20649632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con_capacity_lower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Menjamin</a:t>
                      </a:r>
                      <a:r>
                        <a:rPr lang="en-ID" sz="1200" dirty="0"/>
                        <a:t> generator yang </a:t>
                      </a:r>
                      <a:r>
                        <a:rPr lang="en-ID" sz="1200" dirty="0" err="1"/>
                        <a:t>beroperasi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batas minimum </a:t>
                      </a:r>
                      <a:r>
                        <a:rPr lang="en-ID" sz="1200" dirty="0" err="1"/>
                        <a:t>teknis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317612294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con_minimum_up_time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Mencegah</a:t>
                      </a:r>
                      <a:r>
                        <a:rPr lang="en-ID" sz="1200" dirty="0"/>
                        <a:t> generator </a:t>
                      </a:r>
                      <a:r>
                        <a:rPr lang="en-ID" sz="1200" dirty="0" err="1"/>
                        <a:t>dimatikan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sebelum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waktu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minimum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72326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con_minimum_down_time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Mencegah generator dinyalakan kembali sebelum memenuhi waktu padam minimum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08987272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con_ramp_up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kenaikan output generator antar interval waktu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536030529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con_ramp_down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penurunan output generator antar interval waktu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23340197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con_n1_spinning_reserve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reserve cukup untuk mengantisipasi kehilangan pembangkit terbesar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6455919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con_dynamic_frequency_security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inertia sistem cukup untuk membatasi penurunan frekuensi hingga batas nadir yang diizinkan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9474867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con_steady_primary_frequency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governor mampu menyediakan respons primer yang cukup untuk mengembalikan frekuensi ke kondisi steady-state yang aman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2681101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con_battery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Mengatur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charge-discharge dan State of Charge (SOC) </a:t>
                      </a:r>
                      <a:r>
                        <a:rPr lang="en-ID" sz="1200" dirty="0" err="1"/>
                        <a:t>baterai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74971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751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BED9-3CE0-2E68-48AD-E1FE0679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C38AE7-11A8-1E72-359C-6FC7E077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7</a:t>
            </a:fld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D0A53-CBF3-9475-B7BD-7F1B5F09720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EE42F0-AA69-5085-6283-EDBF223AB0B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Perbandingan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Constraint (2)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53C639-6174-727D-6996-4598C06E3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684997"/>
              </p:ext>
            </p:extLst>
          </p:nvPr>
        </p:nvGraphicFramePr>
        <p:xfrm>
          <a:off x="135468" y="452120"/>
          <a:ext cx="4517214" cy="567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65">
                  <a:extLst>
                    <a:ext uri="{9D8B030D-6E8A-4147-A177-3AD203B41FA5}">
                      <a16:colId xmlns:a16="http://schemas.microsoft.com/office/drawing/2014/main" val="147649757"/>
                    </a:ext>
                  </a:extLst>
                </a:gridCol>
                <a:gridCol w="1548776">
                  <a:extLst>
                    <a:ext uri="{9D8B030D-6E8A-4147-A177-3AD203B41FA5}">
                      <a16:colId xmlns:a16="http://schemas.microsoft.com/office/drawing/2014/main" val="1417854090"/>
                    </a:ext>
                  </a:extLst>
                </a:gridCol>
                <a:gridCol w="2477373">
                  <a:extLst>
                    <a:ext uri="{9D8B030D-6E8A-4147-A177-3AD203B41FA5}">
                      <a16:colId xmlns:a16="http://schemas.microsoft.com/office/drawing/2014/main" val="2503795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Coding Candra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Modifikasi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89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con_battery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con_wt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con_curtailment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10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con_power_balance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con_capacity_upper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con_capacity_lower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con_minimum_up_time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con_minimum_down_time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con_ramp_up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con_ramp_down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con_n1_spinning_reserve</a:t>
                      </a: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con_dynamic_frequency_security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con_steady_primary_frequency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con_battery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con_wt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D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con_curtailment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9985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29D9AF-BE13-C5A0-52E3-226D5461F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41060"/>
              </p:ext>
            </p:extLst>
          </p:nvPr>
        </p:nvGraphicFramePr>
        <p:xfrm>
          <a:off x="4831977" y="468280"/>
          <a:ext cx="7224556" cy="58955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93576">
                  <a:extLst>
                    <a:ext uri="{9D8B030D-6E8A-4147-A177-3AD203B41FA5}">
                      <a16:colId xmlns:a16="http://schemas.microsoft.com/office/drawing/2014/main" val="2422838846"/>
                    </a:ext>
                  </a:extLst>
                </a:gridCol>
                <a:gridCol w="4830980">
                  <a:extLst>
                    <a:ext uri="{9D8B030D-6E8A-4147-A177-3AD203B41FA5}">
                      <a16:colId xmlns:a16="http://schemas.microsoft.com/office/drawing/2014/main" val="1481607946"/>
                    </a:ext>
                  </a:extLst>
                </a:gridCol>
              </a:tblGrid>
              <a:tr h="185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/>
                        <a:t>Constraint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200" b="1" dirty="0" err="1"/>
                        <a:t>Fungsi</a:t>
                      </a:r>
                      <a:r>
                        <a:rPr lang="en-ID" sz="1200" b="1" dirty="0"/>
                        <a:t> </a:t>
                      </a:r>
                      <a:r>
                        <a:rPr lang="en-ID" sz="1200" b="1" dirty="0" err="1"/>
                        <a:t>dalam</a:t>
                      </a:r>
                      <a:r>
                        <a:rPr lang="en-ID" sz="1200" b="1" dirty="0"/>
                        <a:t> </a:t>
                      </a:r>
                      <a:r>
                        <a:rPr lang="en-ID" sz="1200" b="1" dirty="0" err="1"/>
                        <a:t>Simulasi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76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use_initial_condition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Menetapkan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kondisi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awal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sistem</a:t>
                      </a:r>
                      <a:r>
                        <a:rPr lang="en-ID" sz="1200" dirty="0"/>
                        <a:t> (status ON/OFF, output </a:t>
                      </a:r>
                      <a:r>
                        <a:rPr lang="en-ID" sz="1200" dirty="0" err="1"/>
                        <a:t>daya</a:t>
                      </a:r>
                      <a:r>
                        <a:rPr lang="en-ID" sz="1200" dirty="0"/>
                        <a:t>, dan </a:t>
                      </a:r>
                      <a:r>
                        <a:rPr lang="en-ID" sz="1200" dirty="0" err="1"/>
                        <a:t>riwayat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unit) </a:t>
                      </a:r>
                      <a:r>
                        <a:rPr lang="en-ID" sz="1200" dirty="0" err="1"/>
                        <a:t>sebagai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titik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awal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optimasi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138354215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con_startup_shutdown_logic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Menentukan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hubungan</a:t>
                      </a:r>
                      <a:r>
                        <a:rPr lang="en-ID" sz="1200" dirty="0"/>
                        <a:t> status ON/OFF </a:t>
                      </a:r>
                      <a:r>
                        <a:rPr lang="en-ID" sz="1200" dirty="0" err="1"/>
                        <a:t>dengan</a:t>
                      </a:r>
                      <a:r>
                        <a:rPr lang="en-ID" sz="1200" dirty="0"/>
                        <a:t> proses startup dan shutdown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99081094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con_power_balance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Menjamin</a:t>
                      </a:r>
                      <a:r>
                        <a:rPr lang="en-ID" sz="1200" dirty="0"/>
                        <a:t> total </a:t>
                      </a:r>
                      <a:r>
                        <a:rPr lang="en-ID" sz="1200" dirty="0" err="1"/>
                        <a:t>daya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pembangkit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kebutuhan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beban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setiap</a:t>
                      </a:r>
                      <a:r>
                        <a:rPr lang="en-ID" sz="1200" dirty="0"/>
                        <a:t> interval </a:t>
                      </a:r>
                      <a:r>
                        <a:rPr lang="en-ID" sz="1200" dirty="0" err="1"/>
                        <a:t>waktu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94143427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con_capacity_upper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output generator tidak melebihi kapasitas maksimum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20649632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con_capacity_lower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Menjamin</a:t>
                      </a:r>
                      <a:r>
                        <a:rPr lang="en-ID" sz="1200" dirty="0"/>
                        <a:t> generator yang </a:t>
                      </a:r>
                      <a:r>
                        <a:rPr lang="en-ID" sz="1200" dirty="0" err="1"/>
                        <a:t>beroperasi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batas minimum </a:t>
                      </a:r>
                      <a:r>
                        <a:rPr lang="en-ID" sz="1200" dirty="0" err="1"/>
                        <a:t>teknis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3176122947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con_minimum_up_time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Mencegah</a:t>
                      </a:r>
                      <a:r>
                        <a:rPr lang="en-ID" sz="1200" dirty="0"/>
                        <a:t> generator </a:t>
                      </a:r>
                      <a:r>
                        <a:rPr lang="en-ID" sz="1200" dirty="0" err="1"/>
                        <a:t>dimatikan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sebelum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memenuhi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waktu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minimum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723263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con_minimum_down_time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Mencegah generator dinyalakan kembali sebelum memenuhi waktu padam minimum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089872726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con_ramp_up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kenaikan output generator antar interval waktu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536030529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con_ramp_down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Membatasi penurunan output generator antar interval waktu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423340197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con_n1_spinning_reserve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reserve cukup untuk mengantisipasi kehilangan pembangkit terbesar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6455919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con_dynamic_frequency_security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inertia sistem cukup untuk membatasi penurunan frekuensi hingga batas nadir yang diizinkan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89474867"/>
                  </a:ext>
                </a:extLst>
              </a:tr>
              <a:tr h="462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con_steady_primary_frequency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Menjamin governor mampu menyediakan respons primer yang cukup untuk mengembalikan frekuensi ke kondisi steady-state yang aman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242681101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/>
                        <a:t>con_battery</a:t>
                      </a:r>
                      <a:endParaRPr lang="en-ID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 err="1"/>
                        <a:t>Mengatur</a:t>
                      </a:r>
                      <a:r>
                        <a:rPr lang="en-ID" sz="1200" dirty="0"/>
                        <a:t> </a:t>
                      </a:r>
                      <a:r>
                        <a:rPr lang="en-ID" sz="1200" dirty="0" err="1"/>
                        <a:t>operasi</a:t>
                      </a:r>
                      <a:r>
                        <a:rPr lang="en-ID" sz="1200" dirty="0"/>
                        <a:t> charge-discharge dan State of Charge (SOC) </a:t>
                      </a:r>
                      <a:r>
                        <a:rPr lang="en-ID" sz="1200" dirty="0" err="1"/>
                        <a:t>baterai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74971982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con_wt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Mengatur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wind turbine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1497700368"/>
                  </a:ext>
                </a:extLst>
              </a:tr>
              <a:tr h="324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con_curtailment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Mengatur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curtailment wind turbine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6291" marR="46291" marT="23145" marB="23145"/>
                </a:tc>
                <a:extLst>
                  <a:ext uri="{0D108BD9-81ED-4DB2-BD59-A6C34878D82A}">
                    <a16:rowId xmlns:a16="http://schemas.microsoft.com/office/drawing/2014/main" val="68884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512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1975B-EBC8-F26A-59E5-1B9978B51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210F265-3CCF-8AC2-CC1A-CFF0FE7040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2261084"/>
              </p:ext>
            </p:extLst>
          </p:nvPr>
        </p:nvGraphicFramePr>
        <p:xfrm>
          <a:off x="6759389" y="3045875"/>
          <a:ext cx="4876800" cy="2957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2574571-B68A-B2B2-6E1C-5C3E8EF73B8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Input Data</a:t>
            </a:r>
            <a:endParaRPr lang="en-ID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F1D0CE-039D-27C2-A094-7EEF8D4FF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11663"/>
              </p:ext>
            </p:extLst>
          </p:nvPr>
        </p:nvGraphicFramePr>
        <p:xfrm>
          <a:off x="135465" y="586510"/>
          <a:ext cx="11734797" cy="237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966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279133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85333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897467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1202266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9390135"/>
                    </a:ext>
                  </a:extLst>
                </a:gridCol>
                <a:gridCol w="1456262">
                  <a:extLst>
                    <a:ext uri="{9D8B030D-6E8A-4147-A177-3AD203B41FA5}">
                      <a16:colId xmlns:a16="http://schemas.microsoft.com/office/drawing/2014/main" val="7889796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Pmin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($/MW)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 ($/h)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 ($)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Ramp (MW/h)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MDT (h)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Power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3594.9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1176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3825.1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48450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1662.9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1291.2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1095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2812.5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2790.0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64800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3913.4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347.85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3096.0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43500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3440.1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42000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EA4C73-EFC9-8BDC-DC65-CE33EF726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97189"/>
              </p:ext>
            </p:extLst>
          </p:nvPr>
        </p:nvGraphicFramePr>
        <p:xfrm>
          <a:off x="135465" y="3082153"/>
          <a:ext cx="6062135" cy="2532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1068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Inersia</a:t>
                      </a: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Governor Ramp (MW/s)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 Dead Band (Hz)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129.8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G2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LTGU 1</a:t>
                      </a: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31.654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G3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85.55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9067245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G4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31.948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3381246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G5</a:t>
                      </a:r>
                      <a:endParaRPr lang="en-ID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24.892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98414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33.663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757871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28.42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4641321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G8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PLTGU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27.636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326386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G9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3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102.07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29502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PLTU 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122.72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81551341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34084B-8FD3-1AB4-757C-0BED222B4EC6}"/>
              </a:ext>
            </a:extLst>
          </p:cNvPr>
          <p:cNvSpPr txBox="1"/>
          <p:nvPr/>
        </p:nvSpPr>
        <p:spPr>
          <a:xfrm>
            <a:off x="0" y="323166"/>
            <a:ext cx="4319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Frequency Nominal = 50 Hz | Frequency Nadir = 49 Hz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3B6C61-069D-0E54-4643-0C5817E38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615880"/>
              </p:ext>
            </p:extLst>
          </p:nvPr>
        </p:nvGraphicFramePr>
        <p:xfrm>
          <a:off x="135465" y="5920305"/>
          <a:ext cx="7987553" cy="8041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299">
                  <a:extLst>
                    <a:ext uri="{9D8B030D-6E8A-4147-A177-3AD203B41FA5}">
                      <a16:colId xmlns:a16="http://schemas.microsoft.com/office/drawing/2014/main" val="2338690537"/>
                    </a:ext>
                  </a:extLst>
                </a:gridCol>
                <a:gridCol w="758184">
                  <a:extLst>
                    <a:ext uri="{9D8B030D-6E8A-4147-A177-3AD203B41FA5}">
                      <a16:colId xmlns:a16="http://schemas.microsoft.com/office/drawing/2014/main" val="592378966"/>
                    </a:ext>
                  </a:extLst>
                </a:gridCol>
                <a:gridCol w="833717">
                  <a:extLst>
                    <a:ext uri="{9D8B030D-6E8A-4147-A177-3AD203B41FA5}">
                      <a16:colId xmlns:a16="http://schemas.microsoft.com/office/drawing/2014/main" val="3344868454"/>
                    </a:ext>
                  </a:extLst>
                </a:gridCol>
                <a:gridCol w="959224">
                  <a:extLst>
                    <a:ext uri="{9D8B030D-6E8A-4147-A177-3AD203B41FA5}">
                      <a16:colId xmlns:a16="http://schemas.microsoft.com/office/drawing/2014/main" val="2847756699"/>
                    </a:ext>
                  </a:extLst>
                </a:gridCol>
                <a:gridCol w="1111623">
                  <a:extLst>
                    <a:ext uri="{9D8B030D-6E8A-4147-A177-3AD203B41FA5}">
                      <a16:colId xmlns:a16="http://schemas.microsoft.com/office/drawing/2014/main" val="3209452391"/>
                    </a:ext>
                  </a:extLst>
                </a:gridCol>
                <a:gridCol w="995083">
                  <a:extLst>
                    <a:ext uri="{9D8B030D-6E8A-4147-A177-3AD203B41FA5}">
                      <a16:colId xmlns:a16="http://schemas.microsoft.com/office/drawing/2014/main" val="3426431649"/>
                    </a:ext>
                  </a:extLst>
                </a:gridCol>
                <a:gridCol w="1030941">
                  <a:extLst>
                    <a:ext uri="{9D8B030D-6E8A-4147-A177-3AD203B41FA5}">
                      <a16:colId xmlns:a16="http://schemas.microsoft.com/office/drawing/2014/main" val="3915908673"/>
                    </a:ext>
                  </a:extLst>
                </a:gridCol>
                <a:gridCol w="923365">
                  <a:extLst>
                    <a:ext uri="{9D8B030D-6E8A-4147-A177-3AD203B41FA5}">
                      <a16:colId xmlns:a16="http://schemas.microsoft.com/office/drawing/2014/main" val="3680618889"/>
                    </a:ext>
                  </a:extLst>
                </a:gridCol>
                <a:gridCol w="986117">
                  <a:extLst>
                    <a:ext uri="{9D8B030D-6E8A-4147-A177-3AD203B41FA5}">
                      <a16:colId xmlns:a16="http://schemas.microsoft.com/office/drawing/2014/main" val="61248917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Min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 Max</a:t>
                      </a:r>
                    </a:p>
                    <a:p>
                      <a:pPr algn="ctr" fontAlgn="b">
                        <a:buNone/>
                      </a:pPr>
                      <a:r>
                        <a:rPr lang="en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(MW)</a:t>
                      </a: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Rate Max (MW)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Discharge Efficiency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SOC</a:t>
                      </a:r>
                      <a:endParaRPr lang="en-ID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522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B1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15,5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8309027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B2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</a:t>
                      </a:r>
                      <a:endParaRPr lang="en-ID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811433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B661C80-D624-A92C-E4E9-0E92F1975E3B}"/>
              </a:ext>
            </a:extLst>
          </p:cNvPr>
          <p:cNvSpPr txBox="1"/>
          <p:nvPr/>
        </p:nvSpPr>
        <p:spPr>
          <a:xfrm>
            <a:off x="8259394" y="6087036"/>
            <a:ext cx="2946490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WT Capacity = 400 MW</a:t>
            </a:r>
          </a:p>
        </p:txBody>
      </p:sp>
    </p:spTree>
    <p:extLst>
      <p:ext uri="{BB962C8B-B14F-4D97-AF65-F5344CB8AC3E}">
        <p14:creationId xmlns:p14="http://schemas.microsoft.com/office/powerpoint/2010/main" val="331411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C0AF-2522-E21F-B49F-D5396766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2BFBED-2CA5-793E-EEB4-595CAFD8576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Total Cost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2A92EFC-8DEA-2851-58AB-412C9CDFA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88776"/>
              </p:ext>
            </p:extLst>
          </p:nvPr>
        </p:nvGraphicFramePr>
        <p:xfrm>
          <a:off x="115623" y="2185214"/>
          <a:ext cx="5765765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647">
                  <a:extLst>
                    <a:ext uri="{9D8B030D-6E8A-4147-A177-3AD203B41FA5}">
                      <a16:colId xmlns:a16="http://schemas.microsoft.com/office/drawing/2014/main" val="2993055382"/>
                    </a:ext>
                  </a:extLst>
                </a:gridCol>
                <a:gridCol w="1101130">
                  <a:extLst>
                    <a:ext uri="{9D8B030D-6E8A-4147-A177-3AD203B41FA5}">
                      <a16:colId xmlns:a16="http://schemas.microsoft.com/office/drawing/2014/main" val="3005609524"/>
                    </a:ext>
                  </a:extLst>
                </a:gridCol>
                <a:gridCol w="1174376">
                  <a:extLst>
                    <a:ext uri="{9D8B030D-6E8A-4147-A177-3AD203B41FA5}">
                      <a16:colId xmlns:a16="http://schemas.microsoft.com/office/drawing/2014/main" val="4159441766"/>
                    </a:ext>
                  </a:extLst>
                </a:gridCol>
                <a:gridCol w="1013012">
                  <a:extLst>
                    <a:ext uri="{9D8B030D-6E8A-4147-A177-3AD203B41FA5}">
                      <a16:colId xmlns:a16="http://schemas.microsoft.com/office/drawing/2014/main" val="2702263385"/>
                    </a:ext>
                  </a:extLst>
                </a:gridCol>
                <a:gridCol w="959224">
                  <a:extLst>
                    <a:ext uri="{9D8B030D-6E8A-4147-A177-3AD203B41FA5}">
                      <a16:colId xmlns:a16="http://schemas.microsoft.com/office/drawing/2014/main" val="4093397910"/>
                    </a:ext>
                  </a:extLst>
                </a:gridCol>
                <a:gridCol w="1174376">
                  <a:extLst>
                    <a:ext uri="{9D8B030D-6E8A-4147-A177-3AD203B41FA5}">
                      <a16:colId xmlns:a16="http://schemas.microsoft.com/office/drawing/2014/main" val="350775167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Fuel Cost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Startup Cost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Shutdown Cost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Cost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5909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Linear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Load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43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3.444.016,23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411.849,85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14.016,00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3.869.882,08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61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3.454.898,28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418.325,47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8.304,00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3.881.527,75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556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3.452.429,36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454.586,54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3.907.015,90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461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3.452.429,36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514.953,88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61.840,00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4.029.223,24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599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3.965.848,23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550.301,39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4.516.149,62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152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3.752639,66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551.968,11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4.304661,77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036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3.506.627.95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507.544,50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5.712,00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4.019.884,48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916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3.226.209,50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487.589,45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2.592,00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3.716.390,94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16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3.668.240,39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551.097,18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4.219.337,57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0872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6DF315-5147-2B33-8603-74A5B30A2F8D}"/>
              </a:ext>
            </a:extLst>
          </p:cNvPr>
          <p:cNvSpPr txBox="1"/>
          <p:nvPr/>
        </p:nvSpPr>
        <p:spPr>
          <a:xfrm>
            <a:off x="0" y="307777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#1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#2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#3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consBasicRamp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#4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#7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#8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#9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47C6C8-017A-2B3A-E981-F2CEC690D44D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485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A18B-F1A9-E844-287C-66B55F06B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5B58C-AB97-AC06-C26A-1B778625CE18}"/>
              </a:ext>
            </a:extLst>
          </p:cNvPr>
          <p:cNvSpPr txBox="1"/>
          <p:nvPr/>
        </p:nvSpPr>
        <p:spPr>
          <a:xfrm>
            <a:off x="0" y="307777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#1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3E1B3-3FBC-91A7-7752-B7596BB582F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19DC4-E275-55AF-E07C-C0EBC85B4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76"/>
            <a:ext cx="4320000" cy="1780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27926-C9BA-397F-49AD-A4D5C5963412}"/>
              </a:ext>
            </a:extLst>
          </p:cNvPr>
          <p:cNvSpPr txBox="1"/>
          <p:nvPr/>
        </p:nvSpPr>
        <p:spPr>
          <a:xfrm>
            <a:off x="0" y="2365096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#2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3BC49-5910-2EC5-C3B6-86999F07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2095"/>
            <a:ext cx="4320000" cy="17803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DF0C08-C9CB-10BC-9862-B42D9DDC6176}"/>
              </a:ext>
            </a:extLst>
          </p:cNvPr>
          <p:cNvSpPr txBox="1"/>
          <p:nvPr/>
        </p:nvSpPr>
        <p:spPr>
          <a:xfrm>
            <a:off x="0" y="4422415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consBasicRamp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87733-EBAD-DD7A-1AF9-E5A1C879A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9" y="4699414"/>
            <a:ext cx="4320000" cy="17803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8C4A8E-F460-4912-D50E-021CB9799D77}"/>
              </a:ext>
            </a:extLst>
          </p:cNvPr>
          <p:cNvSpPr txBox="1"/>
          <p:nvPr/>
        </p:nvSpPr>
        <p:spPr>
          <a:xfrm>
            <a:off x="535193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#4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EF4EA-E281-C93E-6F46-EFFF4EA3B077}"/>
              </a:ext>
            </a:extLst>
          </p:cNvPr>
          <p:cNvSpPr txBox="1"/>
          <p:nvPr/>
        </p:nvSpPr>
        <p:spPr>
          <a:xfrm>
            <a:off x="5351930" y="2365096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75954-2D09-A111-9C35-00D309063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1011" y="584776"/>
            <a:ext cx="4320000" cy="1780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A04693-0DA6-6DAB-E6FB-8A48D6526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2002" y="2642095"/>
            <a:ext cx="4320000" cy="178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CCAB81-40D1-A8C4-1D90-219A6EF979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1011" y="4699414"/>
            <a:ext cx="4320000" cy="17803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DC80E9-5140-345D-B3F3-5113E7A27253}"/>
              </a:ext>
            </a:extLst>
          </p:cNvPr>
          <p:cNvSpPr txBox="1"/>
          <p:nvPr/>
        </p:nvSpPr>
        <p:spPr>
          <a:xfrm>
            <a:off x="5351930" y="4418871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B2FA37-2E3C-D07F-BB2A-D7065A72C98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76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129F-86CC-EFC3-D826-7863E793B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D99189-664D-2AF0-077B-9D0A869ADA0F}"/>
              </a:ext>
            </a:extLst>
          </p:cNvPr>
          <p:cNvSpPr txBox="1"/>
          <p:nvPr/>
        </p:nvSpPr>
        <p:spPr>
          <a:xfrm>
            <a:off x="0" y="307777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#7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B55F37-CC2E-F0CC-8D8D-AEAF4075C10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Status Unit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4D33A7-2C38-4CAB-77FD-A3421F9E433B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310EBB7-1FEA-47C7-4C88-D4515DD22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4776"/>
            <a:ext cx="4320000" cy="17803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50EAAF-7AC7-D624-DF24-1DA5CF22934A}"/>
              </a:ext>
            </a:extLst>
          </p:cNvPr>
          <p:cNvSpPr txBox="1"/>
          <p:nvPr/>
        </p:nvSpPr>
        <p:spPr>
          <a:xfrm>
            <a:off x="0" y="2421629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#8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DDA874-2307-83EF-CFAB-DF2098526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8628"/>
            <a:ext cx="4320000" cy="1605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90781B-629F-CAA4-7642-000D152738D2}"/>
              </a:ext>
            </a:extLst>
          </p:cNvPr>
          <p:cNvSpPr txBox="1"/>
          <p:nvPr/>
        </p:nvSpPr>
        <p:spPr>
          <a:xfrm>
            <a:off x="0" y="4396982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#9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69AEE7-24C3-1BD0-72A0-E59E32939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73981"/>
            <a:ext cx="4320000" cy="160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8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4C5AC-2FF4-5DDF-E683-FBF8DB9F4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728789-EA2C-035B-4C3F-F81F65D8B58A}"/>
              </a:ext>
            </a:extLst>
          </p:cNvPr>
          <p:cNvSpPr txBox="1"/>
          <p:nvPr/>
        </p:nvSpPr>
        <p:spPr>
          <a:xfrm>
            <a:off x="0" y="307777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#1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B0340-9F37-A3E7-6441-6E53BBAFCB4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0C92A-643A-EDA8-784C-B0E79DBC5E0D}"/>
              </a:ext>
            </a:extLst>
          </p:cNvPr>
          <p:cNvSpPr txBox="1"/>
          <p:nvPr/>
        </p:nvSpPr>
        <p:spPr>
          <a:xfrm>
            <a:off x="0" y="2365096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#2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CC33A-8CFC-8E25-196C-61E3067D76CD}"/>
              </a:ext>
            </a:extLst>
          </p:cNvPr>
          <p:cNvSpPr txBox="1"/>
          <p:nvPr/>
        </p:nvSpPr>
        <p:spPr>
          <a:xfrm>
            <a:off x="0" y="4422415"/>
            <a:ext cx="453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#3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consBasicRamp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32871D4-9AAF-648F-8240-CC25BC706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527617"/>
              </p:ext>
            </p:extLst>
          </p:nvPr>
        </p:nvGraphicFramePr>
        <p:xfrm>
          <a:off x="44823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260121226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652804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1626752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330536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6465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035387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43402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136527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823513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175523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5767975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225946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4199738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720801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0059026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4519163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237543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6834283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72557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848187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6518140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2362557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1123439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4315217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182586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03725114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Gen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12280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19670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1176.00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1080.38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1645374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512731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980714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112.59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116.40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719984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069371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318.17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418.06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992.07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1059.98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926.58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1034.81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1060.45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1045.56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1031.27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1074.68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1053.30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848.52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940400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002585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8719081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282517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799039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22A3E1-B18A-A1DD-9BA1-B3142330B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452450"/>
              </p:ext>
            </p:extLst>
          </p:nvPr>
        </p:nvGraphicFramePr>
        <p:xfrm>
          <a:off x="44823" y="264441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8795276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12302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712061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071462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7476586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835091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3447536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609219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7140816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1252177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680934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344386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4967999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232641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5544773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3095951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824497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068630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783135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182161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6094368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619829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542671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3982706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4501287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8355134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680640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0816055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1160.20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1080.38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1080.38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13388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5191319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PLTU 2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723634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1906930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97.40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2787208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318.17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418.06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992.07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1040.98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1092.12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841.58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1015.81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1060.45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1012.27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1074.68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1034.30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848.52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906693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1999583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3281212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600597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0964311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8AC553F-A8CD-E0E0-C397-19A5D9D44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37386"/>
              </p:ext>
            </p:extLst>
          </p:nvPr>
        </p:nvGraphicFramePr>
        <p:xfrm>
          <a:off x="44823" y="4699414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92267372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7075519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800057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781674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542587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8602670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63780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9594842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53221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6635065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39607119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860229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085180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752042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5797551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1179757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119436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850284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529207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918211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693555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9514888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7380290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920448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479510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12681703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Hour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990930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4468638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1096.06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8070113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314276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880.18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865.38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947.52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960.69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1740183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524178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854414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401.68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428.45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444.07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665.45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590.81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442.43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635.45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429.40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1029.40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977.68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871.30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848.52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59448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561.13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261.13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616.16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367.87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0202569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03184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3705730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805735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49D85E7-6BC3-D5B0-F1D6-43B29CA9B6D6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430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2DFA-65AE-02C2-7CE5-2E91FDF9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BA3C40-433C-D539-66D9-8B994CF51B34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1098FA-6F84-AFFA-EB50-DC6050AF2CE6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#4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65DA0-E3F1-50DA-F222-6B0D6DBB6E63}"/>
              </a:ext>
            </a:extLst>
          </p:cNvPr>
          <p:cNvSpPr txBox="1"/>
          <p:nvPr/>
        </p:nvSpPr>
        <p:spPr>
          <a:xfrm>
            <a:off x="0" y="2365096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27B172-7503-8D30-78A7-036C8E3D1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041278"/>
              </p:ext>
            </p:extLst>
          </p:nvPr>
        </p:nvGraphicFramePr>
        <p:xfrm>
          <a:off x="67235" y="589963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103969041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92393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352864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7795105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2905239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7768248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609983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042724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5001972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7689749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906774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494669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840578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131037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479531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189407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5102298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039346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088862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4726842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1427519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2845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2234204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9118161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7286853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29132101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Hour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120109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014125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1138.14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1096.06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396509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6926085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960.69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3053964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2553994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881661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401.68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428.45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396.22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530.13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581.27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281.27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356.58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656.58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611.74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549.60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449.71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381.55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681.55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629.83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523.45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252.67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393.26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0520291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289529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397.32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467.72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260786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90036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274897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613BFF-2865-DE06-117C-DC02987DC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071864"/>
              </p:ext>
            </p:extLst>
          </p:nvPr>
        </p:nvGraphicFramePr>
        <p:xfrm>
          <a:off x="67235" y="2642095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17330671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7010870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527021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189745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7692782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990877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46220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156359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377630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971248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620647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627422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6050160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986680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8640380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2655245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595650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6570512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2441436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2158835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336968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1478706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5422648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287661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6466051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97224714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Hour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14524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5900682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893.74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693.68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791.85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671.85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671.85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823.05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703.05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734.06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817.29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687.99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741.22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420786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452.76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590.16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438.41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738.41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795.84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956.91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949.28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918.21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887.20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766.33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950.91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941.61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946.16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902.90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349107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778.98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757.54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748.17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790.36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790.36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6629496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6161011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553184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251.19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402.30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951.72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944.09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913.02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945.72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811.46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941.97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777.96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2237475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277.98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498.16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283.05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583.05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289.81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290.54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341.68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391.14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277.58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479.11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561.83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563240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9696664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679.55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773.74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661.44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781.44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702.51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781.44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674.52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656.86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9965921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603.83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749.76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670.22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1532735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132E00-C29E-AB9A-7505-43C86ADF7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75268"/>
              </p:ext>
            </p:extLst>
          </p:nvPr>
        </p:nvGraphicFramePr>
        <p:xfrm>
          <a:off x="67235" y="4704601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50909162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330038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760310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885571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822359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2068747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7683993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888557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715671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8618466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1530468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5079800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191237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822737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9242913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792489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1602599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959037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5663353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9412316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988601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4986213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5149442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985786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112187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61096478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52912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9308431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1060.80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940.80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1060.80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946.08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1021.80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1021.80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1087.80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0345112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525.07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825.07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858.98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610.12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833.81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533.81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578.45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530.27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710.40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658.68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852.30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608.26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0140870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661.58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755.30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895.20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822307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15307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020356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443.88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400.06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351.69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473.38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4770506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621.26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07335772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660211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777.00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743.20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6098259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672.00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5840492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C75D822-DDE8-9FD4-2CFC-1B7268EE2C54}"/>
              </a:ext>
            </a:extLst>
          </p:cNvPr>
          <p:cNvSpPr txBox="1"/>
          <p:nvPr/>
        </p:nvSpPr>
        <p:spPr>
          <a:xfrm>
            <a:off x="0" y="4422415"/>
            <a:ext cx="10681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BB291-9981-8BBD-B400-5467F96BECD7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64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4624-3775-8A60-11E2-1632D6B2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B08207-F40D-6958-E7BD-90F3240EAC4C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BC551-94B8-C2E3-E895-35A5BAD283E7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#7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1A9A3-A161-BB04-B8CB-1B9ACDA73DF3}"/>
              </a:ext>
            </a:extLst>
          </p:cNvPr>
          <p:cNvSpPr txBox="1"/>
          <p:nvPr/>
        </p:nvSpPr>
        <p:spPr>
          <a:xfrm>
            <a:off x="0" y="2365096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#7 [Aris]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143DC-739C-33A4-E758-466F49159564}"/>
              </a:ext>
            </a:extLst>
          </p:cNvPr>
          <p:cNvSpPr txBox="1"/>
          <p:nvPr/>
        </p:nvSpPr>
        <p:spPr>
          <a:xfrm>
            <a:off x="0" y="4108183"/>
            <a:ext cx="106814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perbedaan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dispatch,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total cost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8CA11-C10B-22DD-22BF-B4B3C2D3BE52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D7EBBC-7E04-059E-A600-D54EF24B4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61780"/>
              </p:ext>
            </p:extLst>
          </p:nvPr>
        </p:nvGraphicFramePr>
        <p:xfrm>
          <a:off x="82923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66608612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35217332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472620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424200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5256609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972881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161503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859811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408779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1055487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1327576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2160771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597204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424998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1094216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2381983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0583981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661317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553524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2291093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652691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426273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166219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645678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767376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49282063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395126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58485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1044.26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1809968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426.45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442.07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739.10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494.00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576.40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704.30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404.30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411.76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672780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853.38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855.52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70733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0635645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6230318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401.18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367.58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281.81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581.81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690.59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419.22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3208014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8307702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174801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5068497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720.00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837821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6C7F81-013A-32B1-C4CF-3C4410BF3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694722"/>
              </p:ext>
            </p:extLst>
          </p:nvPr>
        </p:nvGraphicFramePr>
        <p:xfrm>
          <a:off x="82923" y="2639117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1889756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871799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894914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062928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479857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234059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1070703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45279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971685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516612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1868503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683633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47356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620565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394382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435805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29216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4563127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5769400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479817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4860961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3544871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906577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5007663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371443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39239713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922639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6399425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1176.00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1176.00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1155.69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1613268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379.18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365.49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665.49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394.40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694.40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394.40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694.40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537.43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551.56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622.60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404.30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613.52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396.76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9367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876.03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861.86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969.00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460099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85.00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8526237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66.00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66.00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822361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310.97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326.58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626.58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337.72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527.18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749.00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720.45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700.56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466.40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766.40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466.40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250.00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257963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012260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7615318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727.17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607.17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541.52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661.52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758.06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870.00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303529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754.38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720.00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840.00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6444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314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E8A3-C9A0-F723-E08F-6CFA82DD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F521F-DB08-159C-1C71-C94DD64EC89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Dispatch (4)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49C5B-980C-9C34-8BE1-D92765D8D892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#8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CD1D2-8DA7-4C36-0B32-59EFB63BA06D}"/>
              </a:ext>
            </a:extLst>
          </p:cNvPr>
          <p:cNvSpPr txBox="1"/>
          <p:nvPr/>
        </p:nvSpPr>
        <p:spPr>
          <a:xfrm>
            <a:off x="0" y="2365096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#9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498F8B-9DE8-0243-266F-8E0B7058DB7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26E7AF-08C2-5B33-5B66-B7F706DCD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612810"/>
              </p:ext>
            </p:extLst>
          </p:nvPr>
        </p:nvGraphicFramePr>
        <p:xfrm>
          <a:off x="82923" y="559118"/>
          <a:ext cx="10515606" cy="16024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26418532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0628342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583533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6296964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325063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3470547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7528250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430496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017296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2466311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4860187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239663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553147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8515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576117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125027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6746607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7702312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8757948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484382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464712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4453760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4423300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8498922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5110543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26050904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083267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971935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0061522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567.32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697.64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716.78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809.34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410.05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736.02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671.93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379.05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0941834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659.18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715.77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681.44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643.14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7625850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8826191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1753420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270.22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2114986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172311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4285834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628.66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868.89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801.45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6323143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787.36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988815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2982723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159EFC-4009-0DC9-B8C1-E470639FD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20657"/>
              </p:ext>
            </p:extLst>
          </p:nvPr>
        </p:nvGraphicFramePr>
        <p:xfrm>
          <a:off x="82923" y="2642095"/>
          <a:ext cx="10515606" cy="16024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0290987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3454435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410696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795470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997522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439643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77222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0366090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4111960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985344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464575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6968993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354660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2863611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0586397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4287899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9500154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591861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9717169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318953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017123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930095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471694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9277642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110415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4387802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531041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4321349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673.98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673.98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673.98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772.8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940.8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909.83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789.83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656.22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633.59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705.86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9466319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487.02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509.26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535.11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384.04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588.78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463.51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4549113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769.62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829.68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921.01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942.18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822.18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747.93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775.2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763.4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883.4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871.64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789.72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8202159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6092271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8726214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366.52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922.41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1008.01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1008.01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964.2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882.25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836144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407.92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256.14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556.14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431.64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344.86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736.56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436.56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391.82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280.09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315.33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805298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369936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540.68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657.78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683.63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646.64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632.49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632.49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636.2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676.55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8488281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607.41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3607814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WT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338.51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347.43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333.57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371.75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308.59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390.99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180.56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118.54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127.09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185.4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217.23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255.5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197.37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140.31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5774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82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5623B-9229-4DC7-C621-1949DD1E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8F66E1-5C9B-68AB-2F9F-9FDF87B747C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Battery Condition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838E4F-7A61-3EC7-61AE-648902EA23ED}"/>
              </a:ext>
            </a:extLst>
          </p:cNvPr>
          <p:cNvSpPr txBox="1"/>
          <p:nvPr/>
        </p:nvSpPr>
        <p:spPr>
          <a:xfrm>
            <a:off x="0" y="5670616"/>
            <a:ext cx="38482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perbedaan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hasil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batere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total cost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dirty="0" err="1">
                <a:latin typeface="Arial" panose="020B0604020202020204" pitchFamily="34" charset="0"/>
                <a:cs typeface="Arial" panose="020B0604020202020204" pitchFamily="34" charset="0"/>
              </a:rPr>
              <a:t>sama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CC7A0-E342-0365-E30E-A78F855D189B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EA73C1F-4BB3-8BBE-8E8C-C3169BA166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196799"/>
              </p:ext>
            </p:extLst>
          </p:nvPr>
        </p:nvGraphicFramePr>
        <p:xfrm>
          <a:off x="6792000" y="2430616"/>
          <a:ext cx="54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D951764-82CA-37FC-FFAD-1B5516A01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38950"/>
              </p:ext>
            </p:extLst>
          </p:nvPr>
        </p:nvGraphicFramePr>
        <p:xfrm>
          <a:off x="0" y="2430616"/>
          <a:ext cx="54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D52D49A-F534-8076-5721-9090E2E5C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577155"/>
              </p:ext>
            </p:extLst>
          </p:nvPr>
        </p:nvGraphicFramePr>
        <p:xfrm>
          <a:off x="83317" y="584776"/>
          <a:ext cx="10515588" cy="5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98678230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95003369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7159985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5750269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26464625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228944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63306794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3264893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82315082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9868805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11327247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95754257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3258333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0319151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2694125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41987367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83634782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7077643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17197192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7275418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667937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7656698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10753692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83269606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72858999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Hasil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9876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80043115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Candra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24.80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-79.80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-51.88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-48.12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-16.45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70.04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31468206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Aris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-71.41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71.69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-51.68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5.50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79673469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0222192-6C1C-CA7C-2AE4-FD6F39F54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311179"/>
              </p:ext>
            </p:extLst>
          </p:nvPr>
        </p:nvGraphicFramePr>
        <p:xfrm>
          <a:off x="83317" y="1464383"/>
          <a:ext cx="10515588" cy="5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64544164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83726812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6597154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0608001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8498900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2977181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76718199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4650794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2866870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1922333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8914468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08454827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80279409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8041074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1706031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07972599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959373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9290350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854762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3013418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7412180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9220439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35207106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9997121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883040103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Hasil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134496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405342808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Candra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65.30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-39.30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-11.38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-7.62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-39.50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6.91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24.05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110.54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-39.50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-39.50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61.00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573629728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Aris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133.59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53.59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171.68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151.68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35.00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40.50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97664041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0977D78-CBEE-4152-7A1D-08C4A20C24D1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Charge/Discharge Condition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753045-5FDA-9B33-0674-98EDC80164CC}"/>
              </a:ext>
            </a:extLst>
          </p:cNvPr>
          <p:cNvSpPr txBox="1"/>
          <p:nvPr/>
        </p:nvSpPr>
        <p:spPr>
          <a:xfrm>
            <a:off x="0" y="1196521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SOC Battery</a:t>
            </a:r>
          </a:p>
        </p:txBody>
      </p:sp>
    </p:spTree>
    <p:extLst>
      <p:ext uri="{BB962C8B-B14F-4D97-AF65-F5344CB8AC3E}">
        <p14:creationId xmlns:p14="http://schemas.microsoft.com/office/powerpoint/2010/main" val="1603747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4236-83F1-7085-AD9B-DA37087E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8D7161-1C58-46E2-9275-F63B03D21CC9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Battery Condition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3716A-A401-28D7-5586-CF6F6D218631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67623-C0CA-77F0-604A-A632CE433B7E}"/>
              </a:ext>
            </a:extLst>
          </p:cNvPr>
          <p:cNvSpPr txBox="1"/>
          <p:nvPr/>
        </p:nvSpPr>
        <p:spPr>
          <a:xfrm>
            <a:off x="0" y="307777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#8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6093E4-F5FC-A554-4CE7-AB8E154713A0}"/>
              </a:ext>
            </a:extLst>
          </p:cNvPr>
          <p:cNvSpPr txBox="1"/>
          <p:nvPr/>
        </p:nvSpPr>
        <p:spPr>
          <a:xfrm>
            <a:off x="0" y="1230683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#9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196A5B1-EF32-8E5E-3833-DB02F2692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50011"/>
              </p:ext>
            </p:extLst>
          </p:nvPr>
        </p:nvGraphicFramePr>
        <p:xfrm>
          <a:off x="68179" y="584776"/>
          <a:ext cx="10515588" cy="5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390844915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2620074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18444761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13810136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26092073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52443952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82005056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7616133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85314686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5431758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5419999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42032361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77167585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4489370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92565570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6003685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96837646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09435093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4769773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36528555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1999734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52630972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9441091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35952463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84803206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Hasil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978189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608102195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Power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1.63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78.37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-11.09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-48.91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187778631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SOC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21.63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193.91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173.91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40.50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149341322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B5298E0-28A4-D474-4B81-482E3B206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455145"/>
              </p:ext>
            </p:extLst>
          </p:nvPr>
        </p:nvGraphicFramePr>
        <p:xfrm>
          <a:off x="68179" y="1507682"/>
          <a:ext cx="10515588" cy="507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332">
                  <a:extLst>
                    <a:ext uri="{9D8B030D-6E8A-4147-A177-3AD203B41FA5}">
                      <a16:colId xmlns:a16="http://schemas.microsoft.com/office/drawing/2014/main" val="4260413809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24348129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70295278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095335437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9860469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60519433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3549714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68531063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22351858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23447829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65964800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487730275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52012938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02373775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7104355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797042548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661475881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4409876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56130102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2448102840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278330916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3390791664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01579873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1098101633"/>
                    </a:ext>
                  </a:extLst>
                </a:gridCol>
                <a:gridCol w="410969">
                  <a:extLst>
                    <a:ext uri="{9D8B030D-6E8A-4147-A177-3AD203B41FA5}">
                      <a16:colId xmlns:a16="http://schemas.microsoft.com/office/drawing/2014/main" val="4198581121"/>
                    </a:ext>
                  </a:extLst>
                </a:gridCol>
              </a:tblGrid>
              <a:tr h="126852"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Hasil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gridSpan="2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Hour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8686"/>
                  </a:ext>
                </a:extLst>
              </a:tr>
              <a:tr h="126852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2387739729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Power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-13.67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-66.33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-20.00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0.00</a:t>
                      </a:r>
                      <a:endParaRPr lang="en-ID" sz="8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-19.50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-80.00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1.17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-46.17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3515642544"/>
                  </a:ext>
                </a:extLst>
              </a:tr>
              <a:tr h="1268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SOC</a:t>
                      </a:r>
                      <a:endParaRPr lang="en-ID" sz="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40.50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45.00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205.00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191.33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125.00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205.00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185.00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165.50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85.50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>
                          <a:effectLst/>
                        </a:rPr>
                        <a:t>86.67</a:t>
                      </a:r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800" u="none" strike="noStrike" dirty="0">
                          <a:effectLst/>
                        </a:rPr>
                        <a:t>40.50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374" marR="4374" marT="4374" marB="0" anchor="b"/>
                </a:tc>
                <a:extLst>
                  <a:ext uri="{0D108BD9-81ED-4DB2-BD59-A6C34878D82A}">
                    <a16:rowId xmlns:a16="http://schemas.microsoft.com/office/drawing/2014/main" val="687304780"/>
                  </a:ext>
                </a:extLst>
              </a:tr>
            </a:tbl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8ED907C6-8AD6-4E1F-AD86-38EE6A3C92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354050"/>
              </p:ext>
            </p:extLst>
          </p:nvPr>
        </p:nvGraphicFramePr>
        <p:xfrm>
          <a:off x="6866029" y="2292089"/>
          <a:ext cx="5175792" cy="3138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3A006A6B-93B5-485A-4EAF-095B585472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965964"/>
              </p:ext>
            </p:extLst>
          </p:nvPr>
        </p:nvGraphicFramePr>
        <p:xfrm>
          <a:off x="146661" y="2292089"/>
          <a:ext cx="5179312" cy="3146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4777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CA96-633B-7E5F-7193-F39DAF65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3B0BCA-23D8-B9ED-859E-25D9E8C5F215}"/>
              </a:ext>
            </a:extLst>
          </p:cNvPr>
          <p:cNvSpPr txBox="1"/>
          <p:nvPr/>
        </p:nvSpPr>
        <p:spPr>
          <a:xfrm>
            <a:off x="0" y="307777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#1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#2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#3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consBasicRamp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#4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#7 [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0D26C4-7662-894F-602F-DBA22E9B2B4D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System Inertia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E886A-1930-61C9-AE91-982668197AA4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7160129-3C87-9507-54BA-01B909C8EB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8757371"/>
              </p:ext>
            </p:extLst>
          </p:nvPr>
        </p:nvGraphicFramePr>
        <p:xfrm>
          <a:off x="2312276" y="1679807"/>
          <a:ext cx="7567448" cy="4396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8D497CC-0ACF-7C3B-B713-7023C08CD4A7}"/>
              </a:ext>
            </a:extLst>
          </p:cNvPr>
          <p:cNvSpPr txBox="1"/>
          <p:nvPr/>
        </p:nvSpPr>
        <p:spPr>
          <a:xfrm>
            <a:off x="2247742" y="6143760"/>
            <a:ext cx="7631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Pertimbangan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system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terbesar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pada scenario 5 (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hijau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*Constraint primary frequency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menuntut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inersia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system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stabil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(flat)</a:t>
            </a:r>
          </a:p>
        </p:txBody>
      </p:sp>
    </p:spTree>
    <p:extLst>
      <p:ext uri="{BB962C8B-B14F-4D97-AF65-F5344CB8AC3E}">
        <p14:creationId xmlns:p14="http://schemas.microsoft.com/office/powerpoint/2010/main" val="3796798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04A52-385F-12ED-BCCF-6267091C2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5BC9D2-63FF-9F02-5186-E0D8038DEA72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Spinning Reserve (1)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91B8D-D136-B5CE-1E21-753E5305DD14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#4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EB57A-9C58-7F9D-DD33-B943E3D6B75E}"/>
              </a:ext>
            </a:extLst>
          </p:cNvPr>
          <p:cNvSpPr txBox="1"/>
          <p:nvPr/>
        </p:nvSpPr>
        <p:spPr>
          <a:xfrm>
            <a:off x="0" y="2365096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CA82D0-2C24-6428-8DBC-BF3DA8FE4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020470"/>
              </p:ext>
            </p:extLst>
          </p:nvPr>
        </p:nvGraphicFramePr>
        <p:xfrm>
          <a:off x="67235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1218830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3416325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019027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9102557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2401827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436349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9845149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2017343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6413821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7407781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2876455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307331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9588437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105796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502070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7202070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8382625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224291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1096142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9324669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303045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3512544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635045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5914869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5486079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31531989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192225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5675559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79.94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1938797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6113262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1855836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0184812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4400553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693.32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805.83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666.55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698.78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564.87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513.73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813.73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738.42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438.42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483.26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645.29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713.45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413.45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465.17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571.55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842.33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701.74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9822278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413.62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9098121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375.68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305.28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7627355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887536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103.62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990445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1C9F98-9830-0B70-F7C2-36D5558D1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52871"/>
              </p:ext>
            </p:extLst>
          </p:nvPr>
        </p:nvGraphicFramePr>
        <p:xfrm>
          <a:off x="67235" y="2642095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113911143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7583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22472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601890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300192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9905445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2760593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1752244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402554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962635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1056568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2483789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0958316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789517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6799880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864159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561323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412678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4317535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44055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785920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7716379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847355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6480657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2013704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42450690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275473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6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4544863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402.26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282.26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402.26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482.32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384.15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504.15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352.95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472.95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441.94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358.71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478.71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488.01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434.78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478.04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6627238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672.24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534.84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638.22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686.59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386.59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329.16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175.72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206.79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358.67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183.39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178.84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222.10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71199079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211.46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220.83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178.64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178.64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0243743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274095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61888245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843.81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692.70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143.28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150.91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181.98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481.98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283.54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153.03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317.04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5085566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532.02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311.84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526.95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226.95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520.19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519.46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418.86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544.63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532.42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330.89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248.17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547.17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477243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425.15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216922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167.49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119.76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239.76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213.14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3235385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236.17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169.78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383918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B55094-9429-221B-1AB1-B5272DA61A58}"/>
              </a:ext>
            </a:extLst>
          </p:cNvPr>
          <p:cNvSpPr txBox="1"/>
          <p:nvPr/>
        </p:nvSpPr>
        <p:spPr>
          <a:xfrm>
            <a:off x="0" y="4422415"/>
            <a:ext cx="106814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E63755-1070-A6C0-B009-B5B555279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02946"/>
              </p:ext>
            </p:extLst>
          </p:nvPr>
        </p:nvGraphicFramePr>
        <p:xfrm>
          <a:off x="67235" y="4699414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41022732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0189325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4129228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8460039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296455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701854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482557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872821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4460828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946101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062626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6560261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205930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813084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975993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881153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8767549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568652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2478641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518551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226699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8777398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7158990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2265535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5834496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53703916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352387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4560771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229.92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655884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734.83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599.93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299.93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266.02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514.88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465.42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291.19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591.19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484.41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546.55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346.44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594.73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414.60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466.32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272.70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516.74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44886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307.42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213.70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1872489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4747553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0775011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651.12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756.48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694.94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743.31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621.62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454.38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606.00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0302050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488.74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188.74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4283588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666026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126.80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299195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168.00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373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33D9AA-CCE8-1D48-19B3-14765E97E7EC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374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0F2D-6AA0-808B-0CED-3B022142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EB7BD-86AA-F43F-1CE1-9A2D6EA9A2F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Spinning Reserve (2)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A9B09-84C1-1BE5-01B9-212715DC2FB5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#7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7C05A-2494-F777-9739-ECFDDAB640E6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E9FC72-8B3B-F2DA-86C6-A7902F3F0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448544"/>
              </p:ext>
            </p:extLst>
          </p:nvPr>
        </p:nvGraphicFramePr>
        <p:xfrm>
          <a:off x="81455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55802679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6397299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4983997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3132479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8746387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261118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792628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5586389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815839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628249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5285705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548161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0201769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0897925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9371953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8686147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7819303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6627893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898061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69214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5183798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333322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8335112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862786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2391840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15891303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554313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1375019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131.74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7596755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597.00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698.55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682.93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385.90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619.38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489.32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548.60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314.32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713.24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2218530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113.48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160959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1937034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3193386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693.82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727.42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813.19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513.19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646.00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404.41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704.41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675.78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03362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648594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4740542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3959498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112838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F97776D-2E5A-2C4B-949B-77F23F8030E7}"/>
              </a:ext>
            </a:extLst>
          </p:cNvPr>
          <p:cNvSpPr txBox="1"/>
          <p:nvPr/>
        </p:nvSpPr>
        <p:spPr>
          <a:xfrm>
            <a:off x="0" y="2202431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#7 [Aris]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A409CD9-A8DF-BF96-543D-54BA85254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981397"/>
              </p:ext>
            </p:extLst>
          </p:nvPr>
        </p:nvGraphicFramePr>
        <p:xfrm>
          <a:off x="81455" y="2479430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6252258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5892450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5398515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789483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133146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860309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4242095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469649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5176342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841383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0750949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379982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64024742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056590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896771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9946648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563037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938551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5395698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2357131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0331976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579729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989813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8335341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4776170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548367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57914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69517341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20.31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0551153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759.51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459.51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730.60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430.60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730.60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430.60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587.57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502.40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511.48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728.24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4529264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92.97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107.14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1822842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84051834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8986018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784.03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768.42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468.42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757.28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567.82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346.00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374.55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394.44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628.60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328.60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628.60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61892566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57906088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0510015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262.83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328.48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111.94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9994467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0.00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778238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544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5597-897C-EDE0-CE1B-2BD1AC2A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FF329D-39ED-0331-8886-57422C0C0BC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Spinning Reserve (3)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D689A-503D-E563-EE88-F993911CBCCC}"/>
              </a:ext>
            </a:extLst>
          </p:cNvPr>
          <p:cNvSpPr txBox="1"/>
          <p:nvPr/>
        </p:nvSpPr>
        <p:spPr>
          <a:xfrm>
            <a:off x="-1" y="307777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#8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DD6E9-E58F-9E01-2EF5-3D5B6A6C84BC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3B6898-78AB-928A-8581-FCCCC18A0A70}"/>
              </a:ext>
            </a:extLst>
          </p:cNvPr>
          <p:cNvSpPr txBox="1"/>
          <p:nvPr/>
        </p:nvSpPr>
        <p:spPr>
          <a:xfrm>
            <a:off x="0" y="2202431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#9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consBattery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con_wt</a:t>
            </a:r>
            <a:r>
              <a:rPr lang="en-US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con_curtailment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6F0F3E-1E38-38AA-8AE7-269EE7B34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870627"/>
              </p:ext>
            </p:extLst>
          </p:nvPr>
        </p:nvGraphicFramePr>
        <p:xfrm>
          <a:off x="81455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45810153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539541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723497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7109617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112859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8412823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3997283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5147149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2717886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6923122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413375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914878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04859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834318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5068195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073880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7898936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4088989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023882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1920590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0789807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9255331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13988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4603910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685759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09483508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317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3190023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3781394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557.68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427.36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486.96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408.22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315.66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714.95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566.68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511.43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388.98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484.81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453.07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745.95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785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0565928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309.82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253.23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287.56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325.86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360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279661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53907257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0543516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824.78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5870165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21871188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09248643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241.34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1.11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68.55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1529971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52.64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0</a:t>
                      </a:r>
                      <a:endParaRPr lang="en-ID" sz="7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3171180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CA84D27-99F5-93C1-E0F6-39E166C61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281014"/>
              </p:ext>
            </p:extLst>
          </p:nvPr>
        </p:nvGraphicFramePr>
        <p:xfrm>
          <a:off x="81455" y="2479430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5024053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8576645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4032276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33967658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425090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3495736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7956761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54347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59341217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038679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52840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954487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209786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8179341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9986008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599912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469936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3661080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3191501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20766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85159883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5110016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188203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3178475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38347870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06156719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308059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8154321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23.63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135.24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268.2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295.02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295.02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196.2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148.2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154.2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28.2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71.97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179.17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312.78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305.21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246.01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92271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84.87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96243163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229.38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194.82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126.36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47.99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146.82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205.6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85.6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97.36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14616866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19.62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6901749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353020852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63.8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145821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76.2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53.86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7221172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45008722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273.67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212.22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170.59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151.36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223.36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237.51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233.8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5397470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232.59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12415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51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FA3C-89AA-99EF-401C-CE1FDD037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2C6F61-E90A-CF7A-3EE9-8888E2A75B2B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Primary Reserve</a:t>
            </a:r>
            <a:endParaRPr lang="en-ID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709866-1FE2-8553-DAB3-9D26A15D1728}"/>
              </a:ext>
            </a:extLst>
          </p:cNvPr>
          <p:cNvSpPr txBox="1"/>
          <p:nvPr/>
        </p:nvSpPr>
        <p:spPr>
          <a:xfrm>
            <a:off x="0" y="307777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#5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consWorstCaseInertia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764125-0BA1-4BE7-4A0F-20A65FB3F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345223"/>
              </p:ext>
            </p:extLst>
          </p:nvPr>
        </p:nvGraphicFramePr>
        <p:xfrm>
          <a:off x="67235" y="584776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196598167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45888166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681733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5907854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6628459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88160798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0900769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58739162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0981431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9385887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349101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23348623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94691661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4055764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17102632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14486088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41855082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70187280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1309609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2269414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6224004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2569094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52104771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2091235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92813614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72250668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739129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5</a:t>
                      </a:r>
                      <a:endParaRPr lang="en-ID" sz="7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06274280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153.00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75.26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275.32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177.15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297.15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218.22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297.15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327.78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176.95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265.95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234.94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151.71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335.41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271.04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271.04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63346908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96.78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81.80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66.10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9032587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190.02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211.46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220.83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221.07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178.64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178.64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2573104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815388358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16553559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102.92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86.99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70.29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283339689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76.64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73.44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360622661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84.49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9096515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190.45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96.26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167.49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88.56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119.76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239.76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263.76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195.48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213.14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91170012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236.17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90.24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230.70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169.78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91000786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B9EB98A-E7F9-552B-5BE1-6D6DEE402D6F}"/>
              </a:ext>
            </a:extLst>
          </p:cNvPr>
          <p:cNvSpPr txBox="1"/>
          <p:nvPr/>
        </p:nvSpPr>
        <p:spPr>
          <a:xfrm>
            <a:off x="0" y="2365096"/>
            <a:ext cx="6840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#6 [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consInit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consUC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consMUTMDT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consSRContingency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consSteadyPrimFreq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BA7D0F-27F4-2A1F-7AE6-96DC52D6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321529"/>
              </p:ext>
            </p:extLst>
          </p:nvPr>
        </p:nvGraphicFramePr>
        <p:xfrm>
          <a:off x="67235" y="2642095"/>
          <a:ext cx="10515606" cy="1479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281">
                  <a:extLst>
                    <a:ext uri="{9D8B030D-6E8A-4147-A177-3AD203B41FA5}">
                      <a16:colId xmlns:a16="http://schemas.microsoft.com/office/drawing/2014/main" val="329308737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555350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0891066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61391759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02893828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155501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075586811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1514866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91467032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543387588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3730959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86629400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15200737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49574693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66357262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81254023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1368101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039796040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79502393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23232585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2922204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424374891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600364444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2960163626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1771815513"/>
                    </a:ext>
                  </a:extLst>
                </a:gridCol>
                <a:gridCol w="407933">
                  <a:extLst>
                    <a:ext uri="{9D8B030D-6E8A-4147-A177-3AD203B41FA5}">
                      <a16:colId xmlns:a16="http://schemas.microsoft.com/office/drawing/2014/main" val="3056514614"/>
                    </a:ext>
                  </a:extLst>
                </a:gridCol>
              </a:tblGrid>
              <a:tr h="123263"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Gen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rowSpan="2"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Hour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50" marR="4250" marT="42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299142"/>
                  </a:ext>
                </a:extLst>
              </a:tr>
              <a:tr h="123263">
                <a:tc gridSpan="2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865224476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235.20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115.20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229.92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34.20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88.20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208.20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72983176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219.95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225.00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6595639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189.45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73.80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193.80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12225724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1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433667405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05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408106610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06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2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214.08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219.00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3364123014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07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158.36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162.00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1234634217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08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PLTGU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8319648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09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3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93.00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126.80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54.00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174.00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120.00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0.00</a:t>
                      </a:r>
                      <a:endParaRPr lang="en-ID" sz="700" b="0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536871160"/>
                  </a:ext>
                </a:extLst>
              </a:tr>
              <a:tr h="123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G 10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PLTU 4</a:t>
                      </a:r>
                      <a:endParaRPr lang="en-ID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48.00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141.00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164.23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>
                          <a:effectLst/>
                        </a:rPr>
                        <a:t>168.00</a:t>
                      </a:r>
                      <a:endParaRPr lang="en-ID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700" u="none" strike="noStrike" dirty="0">
                          <a:effectLst/>
                        </a:rPr>
                        <a:t>168.00</a:t>
                      </a:r>
                      <a:endParaRPr lang="en-ID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50" marR="4250" marT="4250" marB="0" anchor="b"/>
                </a:tc>
                <a:extLst>
                  <a:ext uri="{0D108BD9-81ED-4DB2-BD59-A6C34878D82A}">
                    <a16:rowId xmlns:a16="http://schemas.microsoft.com/office/drawing/2014/main" val="249173031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3F042B7-AB3A-6AA3-B416-77BB9F79C5E9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53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861D-257B-126B-922D-E5A7C4CC3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E651E0-8229-8D34-C080-C4FD8B66F600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Progress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Penelitian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dan Arah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Pengembangan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Selanjutnya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614E15-C0E8-C34A-F167-0835524640BD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5A72DE-7513-19FA-3BEC-C7E031617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13806"/>
              </p:ext>
            </p:extLst>
          </p:nvPr>
        </p:nvGraphicFramePr>
        <p:xfrm>
          <a:off x="67734" y="375509"/>
          <a:ext cx="8200777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3636">
                  <a:extLst>
                    <a:ext uri="{9D8B030D-6E8A-4147-A177-3AD203B41FA5}">
                      <a16:colId xmlns:a16="http://schemas.microsoft.com/office/drawing/2014/main" val="3299876045"/>
                    </a:ext>
                  </a:extLst>
                </a:gridCol>
                <a:gridCol w="1147864">
                  <a:extLst>
                    <a:ext uri="{9D8B030D-6E8A-4147-A177-3AD203B41FA5}">
                      <a16:colId xmlns:a16="http://schemas.microsoft.com/office/drawing/2014/main" val="1620431495"/>
                    </a:ext>
                  </a:extLst>
                </a:gridCol>
                <a:gridCol w="4669277">
                  <a:extLst>
                    <a:ext uri="{9D8B030D-6E8A-4147-A177-3AD203B41FA5}">
                      <a16:colId xmlns:a16="http://schemas.microsoft.com/office/drawing/2014/main" val="1549119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Tahap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Status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Tujuan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911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UC Dasar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biaya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97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N-1 Reserve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reserve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terhhadap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kehilangan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unit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terbesar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027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 Frequency Security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inertia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Steady Primary Frequency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Menjamin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kecukupan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Primary Frequency Response (PFR)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66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Model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Meningkatkan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fleksibilitas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dan reserve system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99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 Turbine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Selesai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Integrasi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pembangkit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355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Virtual Inertia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Berikutnya</a:t>
                      </a:r>
                      <a:endParaRPr lang="en-ID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Dukungan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stabilitas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frekuensi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</a:t>
                      </a:r>
                      <a:endParaRPr lang="en-ID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665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E3F6-5BF7-210D-6506-B150AE5B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3896BA-7773-73FC-CFC4-51E7DD4C6B5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3EA483-45A3-D3E3-E453-4C750CA5E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541" y="480374"/>
            <a:ext cx="8910918" cy="59406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D41C6E-D82C-E234-30BF-29F41579332B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565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7F67-EC27-9E21-6E73-D67357CF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7B69F7-22FD-2489-C1CE-953A4DF848C3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D80746-3E7A-2FD7-F4CA-2BC03DB49FF7}"/>
              </a:ext>
            </a:extLst>
          </p:cNvPr>
          <p:cNvSpPr txBox="1"/>
          <p:nvPr/>
        </p:nvSpPr>
        <p:spPr>
          <a:xfrm>
            <a:off x="0" y="6550223"/>
            <a:ext cx="12192000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F5763-EA5E-3E85-1CF6-E4BF56890DDD}"/>
              </a:ext>
            </a:extLst>
          </p:cNvPr>
          <p:cNvSpPr txBox="1"/>
          <p:nvPr/>
        </p:nvSpPr>
        <p:spPr>
          <a:xfrm>
            <a:off x="2318171" y="2767281"/>
            <a:ext cx="75556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TERIMA KASIH</a:t>
            </a:r>
            <a:endParaRPr lang="en-ID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830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6F573-3996-A715-2B1D-25BCB7541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8BE5A1-81CD-13C3-ADBB-396D9A8A6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26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2B3503-BC5C-1C95-B35F-8CE662E4F87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(Proposal Awal)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49A51-D732-5B0D-359C-9537862C8821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4749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Fungsi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Objektif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D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𝑙𝑜𝑠𝑠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𝐸𝑁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terhadap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start-up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tetap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𝑙𝑜𝑠𝑠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penalty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pelepasan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beban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($/MWh)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𝐸𝑁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energy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tidak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tersalurkan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Cadangan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Cadangan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149A51-D732-5B0D-359C-9537862C8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4749057"/>
              </a:xfrm>
              <a:prstGeom prst="rect">
                <a:avLst/>
              </a:prstGeom>
              <a:blipFill>
                <a:blip r:embed="rId2"/>
                <a:stretch>
                  <a:fillRect l="-300" t="-385" b="-2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493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5C5E-7041-B0DD-8384-A924B1F9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F53B9B-1AB6-C580-972C-87F2393C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27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54FD8-44E6-A328-F757-ED6078BB9105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577DF7-B85D-700D-02B0-A7E83E47E440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57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Fungsi 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Objektif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ID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ID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𝑔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𝑆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𝑔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𝑇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𝑤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𝑤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𝑡</m:t>
                                          </m:r>
                                        </m:sub>
                                        <m:sup>
                                          <m:r>
                                            <a:rPr lang="en-US" sz="1600" b="0" i="1" smtClean="0"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𝑐𝑢𝑟𝑡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b="0" dirty="0"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𝑐𝑢𝑟𝑡</m:t>
                              </m:r>
                            </m:sup>
                          </m:sSubSup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ID" sz="1600" dirty="0"/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terhadap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start-up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tetap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per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($/MW)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𝑤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𝑐𝑢𝑟𝑡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curtailment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terhadap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pada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𝜌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curtailment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($)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thermal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PLTB,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PLTB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rentang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endParaRPr lang="en-ID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4577DF7-B85D-700D-02B0-A7E83E47E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5716758"/>
              </a:xfrm>
              <a:prstGeom prst="rect">
                <a:avLst/>
              </a:prstGeom>
              <a:blipFill>
                <a:blip r:embed="rId2"/>
                <a:stretch>
                  <a:fillRect l="-300" t="-320" b="-10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640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4CB3D-9D8E-456C-B0B6-3C5AF410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0FE9BB-99E3-E64B-F6DB-006521B8B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28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21297C-48CA-3A6D-6EDD-0091878BFD92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B08173-C45D-A23F-3965-147301D325C1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Balance: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𝑐h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𝑎𝑣𝑎𝑖𝑙</m:t>
                              </m:r>
                            </m:sup>
                          </m:sSub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𝑐𝑢𝑟𝑡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ID" sz="1600" dirty="0"/>
              </a:p>
              <a:p>
                <a:pPr algn="just"/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Dengan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kebutuhan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beban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ID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ID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ID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B08173-C45D-A23F-3965-147301D32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12192000" cy="3460243"/>
              </a:xfrm>
              <a:prstGeom prst="rect">
                <a:avLst/>
              </a:prstGeom>
              <a:blipFill>
                <a:blip r:embed="rId2"/>
                <a:stretch>
                  <a:fillRect l="-300" t="-529" b="-7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930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84AB-E0BF-1A82-F870-09D8B317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EB28BD-C38E-AFB6-15F1-A66F6FE9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29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780B1-67EB-084F-C4E8-73F3B00EB7D4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0F4A9-4277-1839-EB8D-0CBBC3A1B005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Power Limit:</a:t>
                </a:r>
              </a:p>
              <a:p>
                <a:pPr algn="just"/>
                <a:r>
                  <a:rPr lang="en-US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Thermal: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ID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r>
                  <a:rPr lang="en-ID" sz="1600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Wind: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0B0F4A9-4277-1839-EB8D-0CBBC3A1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3550074"/>
              </a:xfrm>
              <a:prstGeom prst="rect">
                <a:avLst/>
              </a:prstGeom>
              <a:blipFill>
                <a:blip r:embed="rId2"/>
                <a:stretch>
                  <a:fillRect l="-905" t="-51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74774-1261-D290-8C60-1D518B500C6D}"/>
                  </a:ext>
                </a:extLst>
              </p:cNvPr>
              <p:cNvSpPr txBox="1"/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beter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)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6774774-1261-D290-8C60-1D518B500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00110"/>
                <a:ext cx="6857501" cy="3281155"/>
              </a:xfrm>
              <a:prstGeom prst="rect">
                <a:avLst/>
              </a:prstGeom>
              <a:blipFill>
                <a:blip r:embed="rId3"/>
                <a:stretch>
                  <a:fillRect l="-444" t="-558" b="-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044199-AA5A-812B-B453-9049B19EE629}"/>
                  </a:ext>
                </a:extLst>
              </p:cNvPr>
              <p:cNvSpPr txBox="1"/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Ramp Up/Down: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𝑅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𝑈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044199-AA5A-812B-B453-9049B19EE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263898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00" b="-100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26EE8C-9E28-36B2-C0D5-BF9182361872}"/>
                  </a:ext>
                </a:extLst>
              </p:cNvPr>
              <p:cNvSpPr txBox="1"/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penurunan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𝑈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kenaikan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(MW/h)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926EE8C-9E28-36B2-C0D5-BF9182361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498" y="4263898"/>
                <a:ext cx="6857501" cy="1137234"/>
              </a:xfrm>
              <a:prstGeom prst="rect">
                <a:avLst/>
              </a:prstGeom>
              <a:blipFill>
                <a:blip r:embed="rId5"/>
                <a:stretch>
                  <a:fillRect l="-444" t="-1604" b="-37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251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67524-DDB9-A133-EE94-F7859726B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A74F13-C23F-59EB-CCBB-EB6CBFEA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30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77D543-52F2-4395-88E5-B48F42662EAF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B2E282-B6B0-BF05-62DE-6E8F25386FA2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Minimum Up/Down Time: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m:rPr>
                                  <m:brk m:alnAt="23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𝑜𝑤𝑛</m:t>
                              </m:r>
                            </m:sup>
                          </m:sSubSup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B2E282-B6B0-BF05-62DE-6E8F25386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042584" cy="2450543"/>
              </a:xfrm>
              <a:prstGeom prst="rect">
                <a:avLst/>
              </a:prstGeom>
              <a:blipFill>
                <a:blip r:embed="rId2"/>
                <a:stretch>
                  <a:fillRect l="-905" t="-74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BC2D16-AB5A-FF80-F7BD-EF028674EBAA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i="0" dirty="0">
                    <a:latin typeface="+mj-lt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∈{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operasi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𝑑𝑜𝑤𝑛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batas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henti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start-up unit pembangkit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shut-down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{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berjalan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BC2D16-AB5A-FF80-F7BD-EF028674E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481257"/>
              </a:xfrm>
              <a:prstGeom prst="rect">
                <a:avLst/>
              </a:prstGeom>
              <a:blipFill>
                <a:blip r:embed="rId3"/>
                <a:stretch>
                  <a:fillRect l="-406" t="-737" b="-245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8FF00-49F8-B823-CDD2-0DDBB6270AF5}"/>
                  </a:ext>
                </a:extLst>
              </p:cNvPr>
              <p:cNvSpPr txBox="1"/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Spinning Reserve: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58FF00-49F8-B823-CDD2-0DDBB6270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3545810"/>
                <a:ext cx="4042584" cy="604781"/>
              </a:xfrm>
              <a:prstGeom prst="rect">
                <a:avLst/>
              </a:prstGeom>
              <a:blipFill>
                <a:blip r:embed="rId4"/>
                <a:stretch>
                  <a:fillRect l="-905" t="-3030" b="-101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0EB966-F9E8-D20D-68E2-DC41DF0F0311}"/>
                  </a:ext>
                </a:extLst>
              </p:cNvPr>
              <p:cNvSpPr txBox="1"/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0EB966-F9E8-D20D-68E2-DC41DF0F0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3545810"/>
                <a:ext cx="7501466" cy="1137234"/>
              </a:xfrm>
              <a:prstGeom prst="rect">
                <a:avLst/>
              </a:prstGeom>
              <a:blipFill>
                <a:blip r:embed="rId5"/>
                <a:stretch>
                  <a:fillRect l="-406" t="-1613" b="-430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A9BDDD-34FB-8664-AAAD-3225EFB1B585}"/>
                  </a:ext>
                </a:extLst>
              </p:cNvPr>
              <p:cNvSpPr txBox="1"/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Kontingensi (N-1)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DA9BDDD-34FB-8664-AAAD-3225EFB1B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880536"/>
                <a:ext cx="4042584" cy="1331711"/>
              </a:xfrm>
              <a:prstGeom prst="rect">
                <a:avLst/>
              </a:prstGeom>
              <a:blipFill>
                <a:blip r:embed="rId6"/>
                <a:stretch>
                  <a:fillRect l="-905" t="-137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FAFEC-E094-1997-03D9-8D3DF9CE5A85}"/>
                  </a:ext>
                </a:extLst>
              </p:cNvPr>
              <p:cNvSpPr txBox="1"/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hilang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akibat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indeks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0FAFEC-E094-1997-03D9-8D3DF9CE5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880536"/>
                <a:ext cx="7501466" cy="1385892"/>
              </a:xfrm>
              <a:prstGeom prst="rect">
                <a:avLst/>
              </a:prstGeom>
              <a:blipFill>
                <a:blip r:embed="rId7"/>
                <a:stretch>
                  <a:fillRect l="-406" t="-1322" b="-52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752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5DE6-7AD1-E4DA-BBED-530E1BF8D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30C7CE-F4E7-D51D-91B3-B6C25319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31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DFD0B-48A9-5936-A5AA-03BFB5D28CF6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F17267-146A-6C3F-9621-4E472CB0688D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Bettery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𝑎𝑥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𝑖𝑛𝑖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𝜂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𝑑𝑖𝑠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𝑆𝑂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𝑓𝑖𝑛𝑎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</m:sSub>
                        </m:sub>
                      </m:sSub>
                      <m: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               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=24</m:t>
                      </m:r>
                    </m:oMath>
                  </m:oMathPara>
                </a14:m>
                <a:endParaRPr lang="en-US" sz="1600" i="1" dirty="0"/>
              </a:p>
              <a:p>
                <a:pPr algn="just"/>
                <a:endParaRPr lang="en-US" sz="160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𝐶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𝐷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  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n-US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𝑐h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≤1</m:t>
                      </m:r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F17267-146A-6C3F-9621-4E472CB06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3927870"/>
              </a:xfrm>
              <a:prstGeom prst="rect">
                <a:avLst/>
              </a:prstGeom>
              <a:blipFill>
                <a:blip r:embed="rId2"/>
                <a:stretch>
                  <a:fillRect l="-779" t="-46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C4F93-235D-B8DF-755A-78B451BA96D3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minimum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𝑖𝑛𝑖𝑡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awal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(t=0)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𝑆𝑂</m:t>
                    </m:r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𝑓𝑖𝑛𝑎𝑙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SOC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akhir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(t=24)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(MWh)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(%)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𝑐h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discharging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90600" algn="l"/>
                    <a:tab pos="12573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E0C4F93-235D-B8DF-755A-78B451BA9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3274807"/>
              </a:xfrm>
              <a:prstGeom prst="rect">
                <a:avLst/>
              </a:prstGeom>
              <a:blipFill>
                <a:blip r:embed="rId3"/>
                <a:stretch>
                  <a:fillRect l="-406" t="-55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60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FA16B-D896-1447-8FD0-28B4DFBDB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8DA56F-3B5A-462E-ED3D-38773A1D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32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29D17-5327-1286-85F5-29C41047B6DA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F77F8-80D0-DFCD-BA29-5CFA8CC274C2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Wind Turbine:</a:t>
                </a: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0≤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1168400" algn="l"/>
                    <a:tab pos="1439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</m:sSub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𝑟𝑎𝑡𝑒𝑑</m:t>
                          </m:r>
                        </m:sup>
                      </m:sSubSup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Φ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𝑢𝑠𝑒𝑑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𝑎𝑣𝑎𝑖𝑙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6F77F8-80D0-DFCD-BA29-5CFA8CC27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1669816"/>
              </a:xfrm>
              <a:prstGeom prst="rect">
                <a:avLst/>
              </a:prstGeom>
              <a:blipFill>
                <a:blip r:embed="rId2"/>
                <a:stretch>
                  <a:fillRect l="-779" t="-109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35C60-FB98-822F-922E-FEE817E0059B}"/>
                  </a:ext>
                </a:extLst>
              </p:cNvPr>
              <p:cNvSpPr txBox="1"/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di-curtail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𝑎𝑣𝑎𝑖𝑙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dihasilkan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𝑢𝑠𝑒𝑑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diinjeksikan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jumlah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𝑟𝑎𝑡𝑒𝑑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ideal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dapat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dibangkitkan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Φ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potensi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energi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angin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p.u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035C60-FB98-822F-922E-FEE817E00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34" y="400110"/>
                <a:ext cx="7501466" cy="2165080"/>
              </a:xfrm>
              <a:prstGeom prst="rect">
                <a:avLst/>
              </a:prstGeom>
              <a:blipFill>
                <a:blip r:embed="rId3"/>
                <a:stretch>
                  <a:fillRect l="-406" t="-84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906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A7C6-EE6A-9595-CE1E-A49114DF3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B70509-1BC2-7E6F-C9DE-12B915E9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33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2E3381-936F-0B86-1399-2F44AC3747E2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5CD1B4-9E46-9C9D-A2B1-FC53A6E0B9B2}"/>
                  </a:ext>
                </a:extLst>
              </p:cNvPr>
              <p:cNvSpPr txBox="1"/>
              <p:nvPr/>
            </p:nvSpPr>
            <p:spPr>
              <a:xfrm>
                <a:off x="-8466" y="400110"/>
                <a:ext cx="4699000" cy="3026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Dynamic Frequency Security: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Dimana: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𝑙𝑜𝑠𝑠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∈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𝐺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</m:sub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𝑚𝑎𝑥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𝑔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−2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𝑓𝐷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−4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𝑛𝑎𝑑𝑖𝑟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𝑚𝑖𝑛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5CD1B4-9E46-9C9D-A2B1-FC53A6E0B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466" y="400110"/>
                <a:ext cx="4699000" cy="3026726"/>
              </a:xfrm>
              <a:prstGeom prst="rect">
                <a:avLst/>
              </a:prstGeom>
              <a:blipFill>
                <a:blip r:embed="rId2"/>
                <a:stretch>
                  <a:fillRect l="-779" t="-60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DFD0E8-4657-90B8-EAC5-61AC7DAC9754}"/>
                  </a:ext>
                </a:extLst>
              </p:cNvPr>
              <p:cNvSpPr txBox="1"/>
              <p:nvPr/>
            </p:nvSpPr>
            <p:spPr>
              <a:xfrm>
                <a:off x="3771900" y="400110"/>
                <a:ext cx="8420100" cy="3258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(MWs)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𝑙𝑜𝑠𝑠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dari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i="0" dirty="0">
                    <a:latin typeface="+mj-lt"/>
                    <a:cs typeface="Arial" panose="020B0604020202020204" pitchFamily="34" charset="0"/>
                  </a:rPr>
                  <a:t>(MWs)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𝑙𝑜𝑠𝑠</m:t>
                        </m:r>
                      </m:sup>
                    </m:s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terbesar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koefisien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kontribusi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primary frequency response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nominal system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(Hz)</a:t>
                </a:r>
              </a:p>
              <a:p>
                <a:pPr algn="just">
                  <a:tabLst>
                    <a:tab pos="722313" algn="l"/>
                    <a:tab pos="895350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ramping governor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(MW/Hz)</a:t>
                </a:r>
              </a:p>
              <a:p>
                <a:pPr algn="just">
                  <a:tabLst>
                    <a:tab pos="722313" algn="l"/>
                    <a:tab pos="895350" algn="l"/>
                    <a:tab pos="12525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𝑓𝐷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deadband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(Hz)</a:t>
                </a:r>
              </a:p>
              <a:p>
                <a:pPr algn="just">
                  <a:tabLst>
                    <a:tab pos="722313" algn="l"/>
                    <a:tab pos="895350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𝑛𝑎𝑑𝑖𝑟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batasan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nadir minimal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(Hz)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DFD0E8-4657-90B8-EAC5-61AC7DAC9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00110"/>
                <a:ext cx="8420100" cy="3258136"/>
              </a:xfrm>
              <a:prstGeom prst="rect">
                <a:avLst/>
              </a:prstGeom>
              <a:blipFill>
                <a:blip r:embed="rId3"/>
                <a:stretch>
                  <a:fillRect l="-434" t="-562" b="-149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512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C62D-180F-5604-6E6D-96CA49A9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65528A-D5F3-1D18-0C19-41B32126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34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A7D477-2337-75AB-F43D-A08410E7A937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(8)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5989C-FC1F-287C-DD88-3D586936ACDD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6384758" cy="4246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Steady Primary Frequency:</a:t>
                </a: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Steady-state frequency limit: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sz="16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𝑠𝑠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𝑚𝑖𝑛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Primary Frequency Response: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  <a:cs typeface="Arial" panose="020B0604020202020204" pitchFamily="34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PFR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Availibility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𝑃𝐹𝑅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≤−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Δ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Primary Frequency Security: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</m:eqAr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𝑃𝐹𝑅</m:t>
                              </m:r>
                            </m:sup>
                          </m:sSubSup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C5989C-FC1F-287C-DD88-3D586936A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6384758" cy="4246547"/>
              </a:xfrm>
              <a:prstGeom prst="rect">
                <a:avLst/>
              </a:prstGeom>
              <a:blipFill>
                <a:blip r:embed="rId2"/>
                <a:stretch>
                  <a:fillRect l="-478" t="-43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CAA438-118C-D7B0-EF6E-B923A2458310}"/>
                  </a:ext>
                </a:extLst>
              </p:cNvPr>
              <p:cNvSpPr txBox="1"/>
              <p:nvPr/>
            </p:nvSpPr>
            <p:spPr>
              <a:xfrm>
                <a:off x="4652210" y="400110"/>
                <a:ext cx="7539789" cy="273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deviasi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steady-state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distem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(Hz)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</m:t>
                    </m:r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𝑠𝑠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deviasi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frekuensi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steady-state minimum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(Hz)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𝑃𝐹𝑅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cadangan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primary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droop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i="0" dirty="0">
                    <a:latin typeface="+mj-lt"/>
                    <a:cs typeface="Arial" panose="020B0604020202020204" pitchFamily="34" charset="0"/>
                  </a:rPr>
                  <a:t>(MW/Hz)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primary ramp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status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1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17550" algn="l"/>
                    <a:tab pos="8969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keluaran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722313" algn="l"/>
                    <a:tab pos="895350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mengalami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gangguan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5CAA438-118C-D7B0-EF6E-B923A2458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210" y="400110"/>
                <a:ext cx="7539789" cy="2737288"/>
              </a:xfrm>
              <a:prstGeom prst="rect">
                <a:avLst/>
              </a:prstGeom>
              <a:blipFill>
                <a:blip r:embed="rId3"/>
                <a:stretch>
                  <a:fillRect l="-404" t="-668" b="-111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656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9E6D-C21B-C7BD-4E20-9F1977EB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5915E7-4241-A5CB-A331-2F0ABE5E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7F4451A4-7C7B-4330-A017-32148719159D}" type="slidenum">
              <a:rPr lang="en-ID" smtClean="0"/>
              <a:t>35</a:t>
            </a:fld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34DD9-0EA8-00F7-F84B-701C8901EA51}"/>
              </a:ext>
            </a:extLst>
          </p:cNvPr>
          <p:cNvSpPr txBox="1"/>
          <p:nvPr/>
        </p:nvSpPr>
        <p:spPr>
          <a:xfrm>
            <a:off x="0" y="0"/>
            <a:ext cx="12192000" cy="30777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Formulasi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(9)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5D5F45-4371-CFA9-C550-E8B636FD9FC7}"/>
                  </a:ext>
                </a:extLst>
              </p:cNvPr>
              <p:cNvSpPr txBox="1"/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Inertia</a:t>
                </a: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Non Virtual Inertia: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(Battery)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1600" i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Virtual Inertia (Battery + Wind Turbine):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𝐺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𝑏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e>
                              </m:d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e>
                      </m:nary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6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𝑉𝐼</m:t>
                              </m:r>
                            </m:sup>
                          </m:sSub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𝑑𝑖𝑠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𝑚𝑎𝑥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𝑉𝐼</m:t>
                          </m:r>
                        </m:sup>
                      </m:sSubSup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≤</m:t>
                      </m:r>
                      <m:sSubSup>
                        <m:sSub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𝑤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𝑐𝑢𝑟𝑡</m:t>
                          </m:r>
                        </m:sup>
                      </m:sSubSup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5D5F45-4371-CFA9-C550-E8B636FD9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7777"/>
                <a:ext cx="4487334" cy="5865260"/>
              </a:xfrm>
              <a:prstGeom prst="rect">
                <a:avLst/>
              </a:prstGeom>
              <a:blipFill>
                <a:blip r:embed="rId2"/>
                <a:stretch>
                  <a:fillRect l="-679" t="-31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292401-EBD3-DB97-58CE-100E225C7AF8}"/>
                  </a:ext>
                </a:extLst>
              </p:cNvPr>
              <p:cNvSpPr txBox="1"/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Dengan: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𝑠𝑦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system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(MWs)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maksimal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pembangkit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virtual inertia constant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i="0" dirty="0">
                    <a:latin typeface="+mj-lt"/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alokasi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saat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</m:sup>
                    </m:sSubSup>
                  </m:oMath>
                </a14:m>
                <a:r>
                  <a:rPr lang="en-US" sz="1600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=	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virtual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b="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  <a:endParaRPr lang="en-US" sz="16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𝑑𝑖𝑠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discharge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maksimum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efisiensi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inersia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batere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[0-1]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𝐾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	=	virtual inertia constant unit PLTB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cs typeface="Arial" panose="020B0604020202020204" pitchFamily="34" charset="0"/>
                  </a:rPr>
                  <a:t>(s)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𝑉𝐼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virtual inertia yang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dialokasikan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𝑤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𝑐𝑢𝑟𝑡</m:t>
                        </m:r>
                      </m:sup>
                    </m:sSub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curtailment unit PLTB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𝑤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  <a:p>
                <a:pPr algn="just">
                  <a:tabLst>
                    <a:tab pos="982663" algn="l"/>
                    <a:tab pos="125253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𝑃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𝑙𝑜𝑠𝑠</m:t>
                        </m:r>
                      </m:sup>
                    </m:sSup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	=	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daya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kontingensi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terbesar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pada </a:t>
                </a:r>
                <a:r>
                  <a:rPr lang="en-US" sz="16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waktu</a:t>
                </a:r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(MW)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292401-EBD3-DB97-58CE-100E225C7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00110"/>
                <a:ext cx="7704666" cy="3553922"/>
              </a:xfrm>
              <a:prstGeom prst="rect">
                <a:avLst/>
              </a:prstGeom>
              <a:blipFill>
                <a:blip r:embed="rId3"/>
                <a:stretch>
                  <a:fillRect l="-396" t="-515" r="-396" b="-8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1464EA-F408-B9DD-92D5-1A89C525DA6B}"/>
                  </a:ext>
                </a:extLst>
              </p:cNvPr>
              <p:cNvSpPr txBox="1"/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Batasan Inertia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𝐻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𝑠𝑦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≥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𝑙𝑜𝑠𝑠</m:t>
                              </m:r>
                            </m:sup>
                          </m:sSup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𝑅𝑜𝐶𝑜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𝑚𝑎𝑥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eqArr>
                            <m:eqArrPr>
                              <m:ctrl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𝐺</m:t>
                              </m:r>
                            </m:e>
                          </m:eqArr>
                        </m:fName>
                        <m:e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1464EA-F408-B9DD-92D5-1A89C525D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334" y="4876827"/>
                <a:ext cx="4487334" cy="1250792"/>
              </a:xfrm>
              <a:prstGeom prst="rect">
                <a:avLst/>
              </a:prstGeom>
              <a:blipFill>
                <a:blip r:embed="rId4"/>
                <a:stretch>
                  <a:fillRect l="-679" t="-1463" b="-146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F5B54-C50D-FC26-A745-6DF2F6125CD9}"/>
              </a:ext>
            </a:extLst>
          </p:cNvPr>
          <p:cNvCxnSpPr/>
          <p:nvPr/>
        </p:nvCxnSpPr>
        <p:spPr>
          <a:xfrm>
            <a:off x="4453465" y="626533"/>
            <a:ext cx="8467" cy="5334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473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12533</TotalTime>
  <Words>10724</Words>
  <Application>Microsoft Office PowerPoint</Application>
  <PresentationFormat>Widescreen</PresentationFormat>
  <Paragraphs>6702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Aptos Narrow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Aris Risnandar</dc:creator>
  <cp:lastModifiedBy>Muhammad Aris Risnandar</cp:lastModifiedBy>
  <cp:revision>47</cp:revision>
  <dcterms:created xsi:type="dcterms:W3CDTF">2026-04-10T04:24:32Z</dcterms:created>
  <dcterms:modified xsi:type="dcterms:W3CDTF">2026-06-11T10:36:56Z</dcterms:modified>
</cp:coreProperties>
</file>