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LAPORAN PROGRES RISET PROYEK INDIVIDUAL</a:t>
            </a:r>
          </a:p>
          <a:p>
            <a:pPr>
              <a:spcBef>
                <a:spcPts val="1200"/>
              </a:spcBef>
              <a:defRPr sz="2600" b="1">
                <a:solidFill>
                  <a:srgbClr val="FFFFFF"/>
                </a:solidFill>
              </a:defRPr>
            </a:pPr>
            <a:r>
              <a:t>Frequency-Constrained Unit Commitment (FCUC)</a:t>
            </a:r>
            <a:br/>
            <a:r>
              <a:t>dengan Battery Virtual Inertia dan Regulasi Frekuensi</a:t>
            </a:r>
            <a:br/>
            <a:r>
              <a:t>pada Penetrasi EBT Tinggi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</a:defRPr>
            </a:pPr>
            <a:r>
              <a:t>Penyelarasan Formulasi Matematika, Pemodelan PV-WT Pengotor, &amp; Rencana Eksekusi 4 Skenario Baru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297680"/>
            <a:ext cx="10362895" cy="1737360"/>
          </a:xfrm>
          <a:prstGeom prst="roundRect">
            <a:avLst/>
          </a:prstGeom>
          <a:solidFill>
            <a:srgbClr val="182B52"/>
          </a:solidFill>
          <a:ln>
            <a:solidFill>
              <a:srgbClr val="254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28600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TIM PENELITI &amp; PEMBIMBING: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• Penulis 1 (Mahasiswa): Nathaniel Benelisha (Departemen Teknik Elektro &amp; Teknologi Informasi, FT UGM)</a:t>
            </a:r>
            <a:br/>
            <a:r>
              <a:t>• Pendamping / Co-Mentor (S3): Muhammad Aris Risnandar, S.T., M.T. (Kandidat Doktor DTETI UGM)</a:t>
            </a:r>
            <a:br/>
            <a:r>
              <a:t>• Dosen Pembimbing: Ir. Lesnanto Multa Putranto, S.T., M.Eng., Ph.D., IPM., ASEAN Eng., SMIEEE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CC"/>
                </a:solidFill>
              </a:defRPr>
            </a:pPr>
            <a:r>
              <a:t>PROYEK INDIVIDUAL — TEKNIK ELEKTRO FT UGM</a:t>
            </a:r>
          </a:p>
          <a:p>
            <a:pPr>
              <a:spcBef>
                <a:spcPts val="400"/>
              </a:spcBef>
              <a:defRPr sz="2200" b="1">
                <a:solidFill>
                  <a:srgbClr val="0F2043"/>
                </a:solidFill>
              </a:defRPr>
            </a:pPr>
            <a:r>
              <a:t>Agenda Pembahasan Progres Riset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1345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2200" b="1">
                <a:solidFill>
                  <a:srgbClr val="007ACC"/>
                </a:solidFill>
              </a:defRPr>
            </a:pPr>
            <a:r>
              <a:t>01</a:t>
            </a:r>
          </a:p>
          <a:p>
            <a:pPr>
              <a:spcBef>
                <a:spcPts val="400"/>
              </a:spcBef>
              <a:defRPr sz="1400" b="1">
                <a:solidFill>
                  <a:srgbClr val="0F2043"/>
                </a:solidFill>
              </a:defRPr>
            </a:pPr>
            <a:r>
              <a:t>Latar Belakang &amp; Masalah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Isu penurunan inersia kisi (low-inertia grid), risiko lonjakan RoCoF, dan keterbatasan UC klasik.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41345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2200" b="1">
                <a:solidFill>
                  <a:srgbClr val="007ACC"/>
                </a:solidFill>
              </a:defRPr>
            </a:pPr>
            <a:r>
              <a:t>02</a:t>
            </a:r>
          </a:p>
          <a:p>
            <a:pPr>
              <a:spcBef>
                <a:spcPts val="400"/>
              </a:spcBef>
              <a:defRPr sz="1400" b="1">
                <a:solidFill>
                  <a:srgbClr val="0F2043"/>
                </a:solidFill>
              </a:defRPr>
            </a:pPr>
            <a:r>
              <a:t>Metode &amp; Formulasi Matematis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Pendekatan 2 tahap: Optimasi MILP (CPLEX) dan Validasi Transien Dinamis (DIgSILENT PowerFactory).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41345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2200" b="1">
                <a:solidFill>
                  <a:srgbClr val="007ACC"/>
                </a:solidFill>
              </a:defRPr>
            </a:pPr>
            <a:r>
              <a:t>03</a:t>
            </a:r>
          </a:p>
          <a:p>
            <a:pPr>
              <a:spcBef>
                <a:spcPts val="400"/>
              </a:spcBef>
              <a:defRPr sz="1400" b="1">
                <a:solidFill>
                  <a:srgbClr val="0F2043"/>
                </a:solidFill>
              </a:defRPr>
            </a:pPr>
            <a:r>
              <a:t>Capaian Progres Sejauh Ini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Review 84 paper, penyelarasan matematis cost linear &amp; PFR, serta arsip draf paper Draf 1 s.d. 5.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341345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2200" b="1">
                <a:solidFill>
                  <a:srgbClr val="007ACC"/>
                </a:solidFill>
              </a:defRPr>
            </a:pPr>
            <a:r>
              <a:t>04</a:t>
            </a:r>
          </a:p>
          <a:p>
            <a:pPr>
              <a:spcBef>
                <a:spcPts val="400"/>
              </a:spcBef>
              <a:defRPr sz="1400" b="1">
                <a:solidFill>
                  <a:srgbClr val="0F2043"/>
                </a:solidFill>
              </a:defRPr>
            </a:pPr>
            <a:r>
              <a:t>Desain 4 Skenario Simulasi Baru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Restrukturisasi inkremental yang elegan: Sim 1 (Baseline), Sim 2 (+BESS), Sim 3 (+BESS VI), Sim 4 (+PV-WT Pengotor).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931920"/>
            <a:ext cx="341345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2200" b="1">
                <a:solidFill>
                  <a:srgbClr val="007ACC"/>
                </a:solidFill>
              </a:defRPr>
            </a:pPr>
            <a:r>
              <a:t>05</a:t>
            </a:r>
          </a:p>
          <a:p>
            <a:pPr>
              <a:spcBef>
                <a:spcPts val="400"/>
              </a:spcBef>
              <a:defRPr sz="1400" b="1">
                <a:solidFill>
                  <a:srgbClr val="0F2043"/>
                </a:solidFill>
              </a:defRPr>
            </a:pPr>
            <a:r>
              <a:t>Rencana Kerja ke Depan (5 Tahap)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Roadmap terstruktur: Eksekusi Pyomo, Analisis Komparatif, Plot Publikasi IEEE, DIgSILENT, &amp; Paper v3.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931920"/>
            <a:ext cx="341345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2200" b="1">
                <a:solidFill>
                  <a:srgbClr val="007ACC"/>
                </a:solidFill>
              </a:defRPr>
            </a:pPr>
            <a:r>
              <a:t>06</a:t>
            </a:r>
          </a:p>
          <a:p>
            <a:pPr>
              <a:spcBef>
                <a:spcPts val="400"/>
              </a:spcBef>
              <a:defRPr sz="1400" b="1">
                <a:solidFill>
                  <a:srgbClr val="0F2043"/>
                </a:solidFill>
              </a:defRPr>
            </a:pPr>
            <a:r>
              <a:t>Permohonan Arahan Pembimbing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Diskusi penalti curtailment cost, representativitas sistem uji IEEE 24-bus, dan target publikasi.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CC"/>
                </a:solidFill>
              </a:defRPr>
            </a:pPr>
            <a:r>
              <a:t>PROYEK INDIVIDUAL — TEKNIK ELEKTRO FT UGM</a:t>
            </a:r>
          </a:p>
          <a:p>
            <a:pPr>
              <a:spcBef>
                <a:spcPts val="400"/>
              </a:spcBef>
              <a:defRPr sz="2200" b="1">
                <a:solidFill>
                  <a:srgbClr val="0F2043"/>
                </a:solidFill>
              </a:defRPr>
            </a:pPr>
            <a:r>
              <a:t>Latar Belakang: Krisis Inersia pada Kisi Tenaga Modern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134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/>
          <a:lstStyle/>
          <a:p>
            <a:pPr algn="ctr">
              <a:defRPr sz="1500" b="1">
                <a:solidFill>
                  <a:srgbClr val="0F2043"/>
                </a:solidFill>
              </a:defRPr>
            </a:pPr>
            <a:r>
              <a:t>⚡ Penetrasi EBT Skala Besar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Transisi energi mendorong masuknya PLTS dan PLTB secara masif ke sistem tenaga listrik.</a:t>
            </a:r>
            <a:br/>
            <a:br/>
            <a:r>
              <a:t>• PLTS dan PLTB terhubung melalui konverter elektronika daya (Inverter-Based Resources / IBR).</a:t>
            </a:r>
            <a:br/>
            <a:br/>
            <a:r>
              <a:t>• IBR beroperasi secara decoupled sehingga TIDAK menyumbang inersia mekanik alamiah ke grid.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4134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/>
          <a:lstStyle/>
          <a:p>
            <a:pPr algn="ctr">
              <a:defRPr sz="1500" b="1">
                <a:solidFill>
                  <a:srgbClr val="D97706"/>
                </a:solidFill>
              </a:defRPr>
            </a:pPr>
            <a:r>
              <a:t>⚠️ Ancaman Frekuensi Sistem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Hilangnya generator sinkron menyebabkan sistem masuk ke kondisi Low-Inertia Grid.</a:t>
            </a:r>
            <a:br/>
            <a:br/>
            <a:r>
              <a:t>• RoCoF Curam: Saat terjadi gangguan N-1 trip unit terbesar, frekuensi anjlok sangat cepat (RoCoF &gt; 0.55 Hz/s).</a:t>
            </a:r>
            <a:br/>
            <a:br/>
            <a:r>
              <a:t>• Frequency Nadir Kritis: Frekuensi merosot menembus batas UFLS (49.0 Hz), berisiko memicu pemadaman meluas (blackout).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4134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/>
          <a:lstStyle/>
          <a:p>
            <a:pPr algn="ctr">
              <a:defRPr sz="1500" b="1">
                <a:solidFill>
                  <a:srgbClr val="16A34A"/>
                </a:solidFill>
              </a:defRPr>
            </a:pPr>
            <a:r>
              <a:t>💡 Solusi: FCUC + BESS VI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Mengintegrasikan batasan frekuensi dinamik langsung ke dalam optimasi jadwal Unit Commitment (FCUC).</a:t>
            </a:r>
            <a:br/>
            <a:br/>
            <a:r>
              <a:t>• BESS Virtual Inertia (VI): Baterai grid-forming mengemulasikan respon inersia sintetis untuk menahan laju RoCoF.</a:t>
            </a:r>
            <a:br/>
            <a:br/>
            <a:r>
              <a:t>• Unit termal mahal dapat di-decommit tanpa mengorbankan stabilitas frekuensi sistem.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CC"/>
                </a:solidFill>
              </a:defRPr>
            </a:pPr>
            <a:r>
              <a:t>PROYEK INDIVIDUAL — TEKNIK ELEKTRO FT UGM</a:t>
            </a:r>
          </a:p>
          <a:p>
            <a:pPr>
              <a:spcBef>
                <a:spcPts val="400"/>
              </a:spcBef>
              <a:defRPr sz="2200" b="1">
                <a:solidFill>
                  <a:srgbClr val="0F2043"/>
                </a:solidFill>
              </a:defRPr>
            </a:pPr>
            <a:r>
              <a:t>Metode Penelitian: Kerangka Kerja Dua Tahap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1. Optimasi FCUC (Pyomo MILP + CPLEX)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Menggunakan Pyomo Modeling Environment di Python.</a:t>
            </a:r>
            <a:br/>
            <a:r>
              <a:t>• Solver: IBM ILOG CPLEX v22.1.1 (antarmuka cplex_direct).</a:t>
            </a:r>
            <a:br/>
            <a:r>
              <a:t>• Optimasi jadwal biner generator (u_{g,t}, y, z) dan dispatch daya kontinu (P, P_ch, P_dis, P_VI).</a:t>
            </a:r>
            <a:br/>
            <a:r>
              <a:t>• Mempertimbangkan 10 batasan teknis generator termal, dinamika BESS SOC, inersia minimum, dan cadangan PFR droop.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2. Validasi Transien (DIgSILENT PowerFactory)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Jadwal komitmen unit dan tingkat pembebanan hasil CPLEX diekspor dan diimpor ke DIgSILENT.</a:t>
            </a:r>
            <a:br/>
            <a:r>
              <a:t>• Simulasi Dinamik Domain Waktu (RMS Simulation):</a:t>
            </a:r>
            <a:br/>
            <a:r>
              <a:t>   - Skenario N-1 Trip Generator Terbesar (Unit G1 400 MW).</a:t>
            </a:r>
            <a:br/>
            <a:r>
              <a:t>   - Pengujian kondisi inersia minimum (jam penetrasi surya tinggi).</a:t>
            </a:r>
            <a:br/>
            <a:r>
              <a:t>• Output: Kurva f(t), nilai riil frequency nadir, dan pembuktian kepatuhan standar grid code.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CC"/>
                </a:solidFill>
              </a:defRPr>
            </a:pPr>
            <a:r>
              <a:t>PROYEK INDIVIDUAL — TEKNIK ELEKTRO FT UGM</a:t>
            </a:r>
          </a:p>
          <a:p>
            <a:pPr>
              <a:spcBef>
                <a:spcPts val="400"/>
              </a:spcBef>
              <a:defRPr sz="2200" b="1">
                <a:solidFill>
                  <a:srgbClr val="0F2043"/>
                </a:solidFill>
              </a:defRPr>
            </a:pPr>
            <a:r>
              <a:t>Konfigurasi Sistem Uji &amp; Data Parameter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10 Unit Termal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G1–G10 (PLTU, PLTGU, PLTG)</a:t>
            </a:r>
            <a:br/>
            <a:r>
              <a:t>Total Kapasitas: 3.405 MW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6432" y="1645920"/>
            <a:ext cx="2560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 b="1">
                <a:solidFill>
                  <a:srgbClr val="007ACC"/>
                </a:solidFill>
              </a:defRPr>
            </a:pPr>
            <a:r>
              <a:t>Beban Sistem 24 Jam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Rata-rata: 1.168 MW</a:t>
            </a:r>
            <a:br/>
            <a:r>
              <a:t>Beban Puncak: 1.500 MW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645920"/>
            <a:ext cx="2560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 b="1">
                <a:solidFill>
                  <a:srgbClr val="D97706"/>
                </a:solidFill>
              </a:defRPr>
            </a:pPr>
            <a:r>
              <a:t>EBT Intermiten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PLTB: 400 MW (100 x 4 MW)</a:t>
            </a:r>
            <a:br/>
            <a:r>
              <a:t>PLTS: Puncak ~200 MW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06256" y="1645920"/>
            <a:ext cx="2560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Penyimpan BESS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2 Unit BESS (B1 &amp; B2)</a:t>
            </a:r>
            <a:br/>
            <a:r>
              <a:t>200 MW / 400 MWh, Eff 90%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333756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1828800"/>
                <a:gridCol w="1828800"/>
                <a:gridCol w="1828800"/>
                <a:gridCol w="2041855"/>
              </a:tblGrid>
              <a:tr h="266007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Tipe Pembangkit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Pmin (MW)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Pmax (MW)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Inersia H (s)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Droop / Gov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</a:tr>
              <a:tr h="26600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G1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PLTU 1 (Coal)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627.0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1176.0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5.00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5.0% / Free Gov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600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G2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PLTGU 1 (CCGT)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340.0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1125.0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4.00 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4.0% / Free Gov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6600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G3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PLTU 2 (Coal)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600.0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969.0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5.00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5.0% / Free Gov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600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G4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PLTG 1 (Gas)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85.0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130.0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3.50 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4.0% / Free Gov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6600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G5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PLTG 2 (Gas)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66.0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108.0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3.50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4.0% / Free Gov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600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G6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PLTGU 2 (CCGT)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250.0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1095.0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4.00 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4.0% / Free Gov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6600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G7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PLTGU 3 (CCGT)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248.0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810.0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4.00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4.0% / Free Gov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600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G8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PLTGU 4 (CCGT)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347.8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773.0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4.00 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4.0% / Free Gov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6600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G9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PLTU 3 (Coal)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540.0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870.0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5.00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5.0% / Free Gov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601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G10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PLTU 4 (Coal)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600.0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840.0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5.00 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5.0% / Free Gov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CC"/>
                </a:solidFill>
              </a:defRPr>
            </a:pPr>
            <a:r>
              <a:t>PROYEK INDIVIDUAL — TEKNIK ELEKTRO FT UGM</a:t>
            </a:r>
          </a:p>
          <a:p>
            <a:pPr>
              <a:spcBef>
                <a:spcPts val="400"/>
              </a:spcBef>
              <a:defRPr sz="2200" b="1">
                <a:solidFill>
                  <a:srgbClr val="0F2043"/>
                </a:solidFill>
              </a:defRPr>
            </a:pPr>
            <a:r>
              <a:t>Formulasi Kunci: Alokasi Konverter BESS &amp; Keamanan Frekuensi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500" b="1">
                <a:solidFill>
                  <a:srgbClr val="0F2043"/>
                </a:solidFill>
              </a:defRPr>
            </a:pPr>
            <a:r>
              <a:t>1. Kopling Alokasi Konverter BESS (Headroom)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Kapasitas inverter baterai (DR_max) diperebutkan bersama oleh daya aktif discharge dan respon inersia virtual:</a:t>
            </a:r>
            <a:br/>
            <a:br/>
            <a:r>
              <a:t>   P_discharge + (P_VI / eta_VI) &lt;= DR_max * u_dis</a:t>
            </a:r>
            <a:br/>
            <a:br/>
            <a:r>
              <a:t>• Inovasi: Mencegah baterai mengklaim kapasitas ganda.</a:t>
            </a:r>
            <a:br/>
            <a:r>
              <a:t>• BESS VI hanya dapat disuplai saat baterai tidak sedang diisi (u_dis = 1).</a:t>
            </a:r>
            <a:br/>
            <a:r>
              <a:t>• Inersia BESS sintetis:</a:t>
            </a:r>
            <a:br/>
            <a:r>
              <a:t>   H_batt_vi = sum( Kb_VI * P_VI_batt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500" b="1">
                <a:solidFill>
                  <a:srgbClr val="0F2043"/>
                </a:solidFill>
              </a:defRPr>
            </a:pPr>
            <a:r>
              <a:t>2. Dua Pilar Batasan Frekuensi (RoCoF + QSS)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A. Batasan RoCoF (t = 0+ detik):</a:t>
            </a:r>
            <a:br/>
            <a:r>
              <a:t>   2 * RoCoF_lim * H_sys &gt;= f0 * LargestLoss</a:t>
            </a:r>
            <a:br/>
            <a:r>
              <a:t>   -&gt; RoCoF maksimum dibatasi 0.55 Hz/s via gabungan inersia generator sinkron &amp; BESS VI.</a:t>
            </a:r>
            <a:br/>
            <a:br/>
            <a:r>
              <a:t>B. Batasan QSS Frequency (t = 10-30 detik):</a:t>
            </a:r>
            <a:br/>
            <a:r>
              <a:t>   LargestLoss &lt;= (f0 - f_qss_min) * (D * Demand + TotalPFR)</a:t>
            </a:r>
            <a:br/>
            <a:r>
              <a:t>   -&gt; Frekuensi kuasi-tunak pasca-gangguan dijamin tetap di atas 49.5 Hz melalui cadangan PFR droop governor generator.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CC"/>
                </a:solidFill>
              </a:defRPr>
            </a:pPr>
            <a:r>
              <a:t>PROYEK INDIVIDUAL — TEKNIK ELEKTRO FT UGM</a:t>
            </a:r>
          </a:p>
          <a:p>
            <a:pPr>
              <a:spcBef>
                <a:spcPts val="400"/>
              </a:spcBef>
              <a:defRPr sz="2200" b="1">
                <a:solidFill>
                  <a:srgbClr val="0F2043"/>
                </a:solidFill>
              </a:defRPr>
            </a:pPr>
            <a:r>
              <a:t>Penegasan Konsep: PV &amp; WT sebagai 'Pengotor' vs Deloading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500" b="1">
                <a:solidFill>
                  <a:srgbClr val="64748B"/>
                </a:solidFill>
              </a:defRPr>
            </a:pPr>
            <a:r>
              <a:t>EBT Sebagai Penyedia VI (Deloading)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Bila EBT difungsikan sebagai penyedia inersia virtual (misal WT-VI):</a:t>
            </a:r>
            <a:br/>
            <a:br/>
            <a:r>
              <a:t>• Turbin angin / PV harus dioperasikan menyimpang di bawah kurva MPPT optimal (deloaded mode 10-20%).</a:t>
            </a:r>
            <a:br/>
            <a:br/>
            <a:r>
              <a:t>• Menyimpan cadangan kinetik rotor untuk dilepas saat frekuensi anjlok.</a:t>
            </a:r>
            <a:br/>
            <a:br/>
            <a:r>
              <a:t>• Menyebabkan hilangnya energi hijau sepanjang hari (Opportunity Cost tinggi).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500" b="1">
                <a:solidFill>
                  <a:srgbClr val="D97706"/>
                </a:solidFill>
              </a:defRPr>
            </a:pPr>
            <a:r>
              <a:t>EBT Sebagai 'Pengotor' (Riset Ini: Curtailment)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PV &amp; WT ditegaskan MURNI sebagai pengotor (Zero Inersia).</a:t>
            </a:r>
            <a:br/>
            <a:br/>
            <a:r>
              <a:t>• Beroperasi pada MPPT maksimal untuk memanen daya murah.</a:t>
            </a:r>
            <a:br/>
            <a:br/>
            <a:r>
              <a:t>• Efek Pengotor: Mengikis komitmen termal sehingga inersia grid anjlok drastis.</a:t>
            </a:r>
            <a:br/>
            <a:br/>
            <a:r>
              <a:t>• Mekanisme Pemotongan Daya: BUKAN deloading, melainkan CURTAILMENT jika sistem kelebihan daya / terancam krisis inersia.</a:t>
            </a:r>
            <a:br/>
            <a:br/>
            <a:r>
              <a:t>• Dihitung CURTAILMENT COST sebagai penalti ekonomi:</a:t>
            </a:r>
            <a:br/>
            <a:r>
              <a:t>   Cost_curt = sum( C_curt_wt * P_curt_wt + C_curt_pv * P_curt_pv 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CC"/>
                </a:solidFill>
              </a:defRPr>
            </a:pPr>
            <a:r>
              <a:t>PROYEK INDIVIDUAL — TEKNIK ELEKTRO FT UGM</a:t>
            </a:r>
          </a:p>
          <a:p>
            <a:pPr>
              <a:spcBef>
                <a:spcPts val="400"/>
              </a:spcBef>
              <a:defRPr sz="2200" b="1">
                <a:solidFill>
                  <a:srgbClr val="0F2043"/>
                </a:solidFill>
              </a:defRPr>
            </a:pPr>
            <a:r>
              <a:t>Capaian Progres Sejauh Ini (Bimbingan Bersama Mas Aris)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✔ Koleksi &amp; Telaah Literatur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Telah mengumpulkan dan menelaah 84 paper akademik internasional (IEEE, Elsevier), mencakup kajian fundamental BESS VI dan regulasi frekuensi primer Pak Lesnanto (ICITEE 2020).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✔ Perumusan Kode Pyomo MILP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Membangun model optimasi matematis FCUC di Python Pyomo terintegrasi solver CPLEX 22.1.1 (cplex_direct) yang mampu menyelesaikan jadwal 24 jam dalam waktu hitung cepat.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✔ Penyelarasan Formulasi Matematis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Memperbaiki fungsi biaya menjadi bentuk linear murni (a*u + b*P), menyelaraskan alokasi converter BESS VI headroom, dan mengisolasi VI secara tegas hanya pada BESS.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1208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✔ Penyusunan Manuskrip Publikasi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Telah menyusun naskah paper IEEEtran secara berkala dari Draf 1 hingga Draf 5 (tersedia dalam kompilasi PDF mutakhir di direktori Paper/PI_Draf5.pdf).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CC"/>
                </a:solidFill>
              </a:defRPr>
            </a:pPr>
            <a:r>
              <a:t>PROYEK INDIVIDUAL — TEKNIK ELEKTRO FT UGM</a:t>
            </a:r>
          </a:p>
          <a:p>
            <a:pPr>
              <a:spcBef>
                <a:spcPts val="400"/>
              </a:spcBef>
              <a:defRPr sz="2200" b="1">
                <a:solidFill>
                  <a:srgbClr val="0F2043"/>
                </a:solidFill>
              </a:defRPr>
            </a:pPr>
            <a:r>
              <a:t>Desain 4 Skenario Simulasi Baru (Inti Diskusi Hari Ini)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455"/>
                <a:gridCol w="1828800"/>
                <a:gridCol w="1828800"/>
                <a:gridCol w="1828800"/>
                <a:gridCol w="1828800"/>
              </a:tblGrid>
              <a:tr h="49149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Parameter Pemodelan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Simulasi 1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(Baseline FCUC)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Simulasi 2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(+ BESS Standar)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Simulasi 3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(+ BESS VI)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Simulasi 4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(+ PV-WT Pengotor)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Generator Termal (10 Unit)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Aktif (G1-G10)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Aktif (G1-G10)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Aktif (G1-G10)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Aktif (G1-G10)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10 Batasan Dasar UC Konvensional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Aktif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Aktif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Aktif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Aktif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Batasan RoCoF (Inersia Min.)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Aktif (&lt;=0.55 Hz/s)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Aktif (&lt;=0.55 Hz/s)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Aktif (&lt;=0.55 Hz/s)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Aktif (&lt;=0.55 Hz/s)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Regulasi Frekuensi Primer (QSS)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Aktif (&gt;=49.5 Hz)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Aktif (&gt;=49.5 Hz)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Aktif (&gt;=49.5 Hz)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Aktif (&gt;=49.5 Hz)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Penyedia Inersia Sistem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100% Termal SG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100% Termal SG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Termal + BESS VI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Termal + BESS VI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Operasi BESS (B1 &amp; B2)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Non-Aktif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Arbitrase Saja (P_VI=0)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Arbitrase + VI Headroom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Arbitrase + VI Headroom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PLTB &amp; PLTS (Pengotor)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Non-Aktif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Non-Aktif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Non-Aktif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Aktif (Zero Inersia)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7150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ACC"/>
                </a:solidFill>
              </a:defRPr>
            </a:pPr>
            <a:r>
              <a:t>💡 Dua Dimensi Frekuensi Aktif di Seluruh Skenario: RoCoF dijaga inersia (t=0+), sedangkan QSS dijaga droop governor (t=10-30s).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CC"/>
                </a:solidFill>
              </a:defRPr>
            </a:pPr>
            <a:r>
              <a:t>PROYEK INDIVIDUAL — TEKNIK ELEKTRO FT UGM</a:t>
            </a:r>
          </a:p>
          <a:p>
            <a:pPr>
              <a:spcBef>
                <a:spcPts val="400"/>
              </a:spcBef>
              <a:defRPr sz="2200" b="1">
                <a:solidFill>
                  <a:srgbClr val="0F2043"/>
                </a:solidFill>
              </a:defRPr>
            </a:pPr>
            <a:r>
              <a:t>Rencana Kerja ke Depan (5 Tahapan Terstruktur)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300" b="1">
                <a:solidFill>
                  <a:srgbClr val="0F2043"/>
                </a:solidFill>
              </a:defRPr>
            </a:pPr>
            <a:r>
              <a:t>📍 Tahap 1: Eksekusi Pyomo &amp; CPLEX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Menyusun skrip run_4_simulations.py, membangun model PV dan WT curtailment limit, serta menjalankan optimasi 4 simulasi dengan solver CPLEX 22.1.1.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300" b="1">
                <a:solidFill>
                  <a:srgbClr val="0F2043"/>
                </a:solidFill>
              </a:defRPr>
            </a:pPr>
            <a:r>
              <a:t>📍 Tahap 2: Ekstraksi &amp; Analisis Komparatif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Mengekstrak tabel komparasi detail biaya (Fuel, Startup, Curtailment Cost) dan menganalisis perbandingan 'Dengan vs Tanpa PV-WT'.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300" b="1">
                <a:solidFill>
                  <a:srgbClr val="0F2043"/>
                </a:solidFill>
              </a:defRPr>
            </a:pPr>
            <a:r>
              <a:t>📍 Tahap 3: Visualisasi Grafik Publikasi IEEE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Menghasilkan 4 grafik standar IEEE 300 DPI di Paper/figures/ (Stacked Dispatch, Inersia &amp; RoCoF 24h, BESS VI Headroom, Curtailment Area).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2628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300" b="1">
                <a:solidFill>
                  <a:srgbClr val="0F2043"/>
                </a:solidFill>
              </a:defRPr>
            </a:pPr>
            <a:r>
              <a:t>📍 Tahap 4: Validasi Transien DIgSILENT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Mengimpor jadwal dispatch ke DIgSILENT PowerFactory untuk simulasi domain-waktu N-1 contingency trip unit terbesar dan mengekstrak kurva f(t).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300" b="1">
                <a:solidFill>
                  <a:srgbClr val="0F2043"/>
                </a:solidFill>
              </a:defRPr>
            </a:pPr>
            <a:r>
              <a:t>📍 Tahap 5: Manuskrip Paper Baru (main_v3.tex)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Menyusun manuskrip lengkap baru main_v3.tex (mempertahankan v2) dengan formulasi baru, tabel hasil numerik, dan mengompilasi PDF terbaru.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CC"/>
                </a:solidFill>
              </a:defRPr>
            </a:pPr>
            <a:r>
              <a:t>PROYEK INDIVIDUAL — TEKNIK ELEKTRO FT UGM</a:t>
            </a:r>
          </a:p>
          <a:p>
            <a:pPr>
              <a:spcBef>
                <a:spcPts val="400"/>
              </a:spcBef>
              <a:defRPr sz="2200" b="1">
                <a:solidFill>
                  <a:srgbClr val="0F2043"/>
                </a:solidFill>
              </a:defRPr>
            </a:pPr>
            <a:r>
              <a:t>Poin Diskusi &amp; Permohonan Arahan kepada Dosen Pembimbing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400" b="1">
                <a:solidFill>
                  <a:srgbClr val="D97706"/>
                </a:solidFill>
              </a:defRPr>
            </a:pPr>
            <a:r>
              <a:t>❓ 1. Nilai Penalti Biaya Curtailment (C_curt)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Apakah penetapan nilai penalti pembuangan energi terbarukan sebesar $30/MWh atau $50/MWh dipandang cukup representatif dalam mencerminkan kerugian ekonomi di sistem tenaga modern?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400" b="1">
                <a:solidFill>
                  <a:srgbClr val="D97706"/>
                </a:solidFill>
              </a:defRPr>
            </a:pPr>
            <a:r>
              <a:t>❓ 2. Representativitas Sistem Uji IEEE 24-Bus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Apakah penyederhanaan sistem uji IEEE 24-bus menjadi model tembaga 10 generator sinkron sudah cukup kuat untuk luaran publikasi jurnal bereputasi (IEEE / MDPI), atau diperlukan variasi beban ekstrem?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400" b="1">
                <a:solidFill>
                  <a:srgbClr val="D97706"/>
                </a:solidFill>
              </a:defRPr>
            </a:pPr>
            <a:r>
              <a:t>❓ 3. Skenario Uji Transien di DIgSILENT PowerFactory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Untuk simulasi transien di DIgSILENT (Tahap 4), apakah cukup difokuskan pada kontingensi N-1 trip unit terbesar (G1 400 MW), ataukah perlu diuji pula saat jam penetrasi EBT puncak (jam 12.00-13.00)?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1208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400" b="1">
                <a:solidFill>
                  <a:srgbClr val="D97706"/>
                </a:solidFill>
              </a:defRPr>
            </a:pPr>
            <a:r>
              <a:t>❓ 4. Rekomendasi Target Publikasi Jurnal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Dengan struktur pembuktian 4 skenario baru dan validasi transien DIgSILENT, mohon arahan Bapak mengenai target jurnal internasional bereputasi yang paling tepat untuk disasar.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TERIMA KASIH</a:t>
            </a:r>
          </a:p>
          <a:p>
            <a:pPr algn="ctr">
              <a:spcBef>
                <a:spcPts val="1400"/>
              </a:spcBef>
              <a:defRPr sz="1600">
                <a:solidFill>
                  <a:srgbClr val="0EA5E9"/>
                </a:solidFill>
              </a:defRPr>
            </a:pPr>
            <a:r>
              <a:t>Mohon Masukan, Kritik, dan Arahan dari Bapak Ir. Lesnanto Multa Putranto, Ph.D.</a:t>
            </a:r>
          </a:p>
          <a:p>
            <a:pPr algn="ctr">
              <a:spcBef>
                <a:spcPts val="1400"/>
              </a:spcBef>
              <a:defRPr sz="1300">
                <a:solidFill>
                  <a:srgbClr val="CBD5E1"/>
                </a:solidFill>
              </a:defRPr>
            </a:pPr>
            <a:r>
              <a:t>Departemen Teknik Elektro dan Teknologi Informasi</a:t>
            </a:r>
            <a:br/>
            <a:r>
              <a:t>Fakultas Teknik — Universitas Gadjah Mada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