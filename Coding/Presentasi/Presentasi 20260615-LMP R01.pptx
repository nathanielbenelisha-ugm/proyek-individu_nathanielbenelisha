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4" r:id="rId2"/>
    <p:sldId id="356" r:id="rId3"/>
    <p:sldId id="340" r:id="rId4"/>
    <p:sldId id="357" r:id="rId5"/>
    <p:sldId id="358" r:id="rId6"/>
    <p:sldId id="359" r:id="rId7"/>
    <p:sldId id="360" r:id="rId8"/>
    <p:sldId id="361" r:id="rId9"/>
    <p:sldId id="364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5" r:id="rId23"/>
    <p:sldId id="353" r:id="rId24"/>
    <p:sldId id="3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FC8755-B7BF-49C3-9A78-CB39C01FB92E}">
          <p14:sldIdLst>
            <p14:sldId id="354"/>
            <p14:sldId id="356"/>
            <p14:sldId id="340"/>
            <p14:sldId id="357"/>
            <p14:sldId id="358"/>
            <p14:sldId id="359"/>
            <p14:sldId id="360"/>
            <p14:sldId id="361"/>
            <p14:sldId id="364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5"/>
            <p14:sldId id="353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5" autoAdjust="0"/>
    <p:restoredTop sz="91241" autoAdjust="0"/>
  </p:normalViewPr>
  <p:slideViewPr>
    <p:cSldViewPr snapToGrid="0">
      <p:cViewPr varScale="1">
        <p:scale>
          <a:sx n="71" d="100"/>
          <a:sy n="71" d="100"/>
        </p:scale>
        <p:origin x="4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Demand &amp;</a:t>
            </a:r>
            <a:r>
              <a:rPr lang="en-ID" baseline="0"/>
              <a:t> WT Potential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Demand!$B$1</c:f>
              <c:strCache>
                <c:ptCount val="1"/>
                <c:pt idx="0">
                  <c:v>Demand (MW)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Demand!$A$2:$A$25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cat>
          <c:val>
            <c:numRef>
              <c:f>Demand!$B$2:$B$25</c:f>
              <c:numCache>
                <c:formatCode>0.00</c:formatCode>
                <c:ptCount val="24"/>
                <c:pt idx="0">
                  <c:v>4225.6768346587305</c:v>
                </c:pt>
                <c:pt idx="1">
                  <c:v>4173.1684539200869</c:v>
                </c:pt>
                <c:pt idx="2">
                  <c:v>4089.201785627165</c:v>
                </c:pt>
                <c:pt idx="3">
                  <c:v>4009.3833712250575</c:v>
                </c:pt>
                <c:pt idx="4">
                  <c:v>4009.3833712250575</c:v>
                </c:pt>
                <c:pt idx="5">
                  <c:v>4211.5210225886722</c:v>
                </c:pt>
                <c:pt idx="6">
                  <c:v>4273.0604107918234</c:v>
                </c:pt>
                <c:pt idx="7">
                  <c:v>4224.6919373566861</c:v>
                </c:pt>
                <c:pt idx="8">
                  <c:v>4531.4540605942329</c:v>
                </c:pt>
                <c:pt idx="9">
                  <c:v>4847.0719129628733</c:v>
                </c:pt>
                <c:pt idx="10">
                  <c:v>4980.9845596916621</c:v>
                </c:pt>
                <c:pt idx="11">
                  <c:v>5032.1157535249067</c:v>
                </c:pt>
                <c:pt idx="12">
                  <c:v>4781.5845889642387</c:v>
                </c:pt>
                <c:pt idx="13">
                  <c:v>4955.8112523783966</c:v>
                </c:pt>
                <c:pt idx="14">
                  <c:v>5107.4270107820657</c:v>
                </c:pt>
                <c:pt idx="15">
                  <c:v>5062.5891437771388</c:v>
                </c:pt>
                <c:pt idx="16">
                  <c:v>5000.4488012879938</c:v>
                </c:pt>
                <c:pt idx="17">
                  <c:v>4900.5568444162564</c:v>
                </c:pt>
                <c:pt idx="18">
                  <c:v>4952.2722993608822</c:v>
                </c:pt>
                <c:pt idx="19">
                  <c:v>5132.4000000000005</c:v>
                </c:pt>
                <c:pt idx="20">
                  <c:v>5080.6845450553747</c:v>
                </c:pt>
                <c:pt idx="21">
                  <c:v>4974.2989432599898</c:v>
                </c:pt>
                <c:pt idx="22">
                  <c:v>4703.5189578962782</c:v>
                </c:pt>
                <c:pt idx="23">
                  <c:v>4496.2565019271115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27-4C3E-AC89-8B06A0FC110E}"/>
            </c:ext>
          </c:extLst>
        </c:ser>
        <c:ser>
          <c:idx val="1"/>
          <c:order val="1"/>
          <c:tx>
            <c:v>WT Potential (MW)</c:v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Demand!$D$2:$D$25</c:f>
              <c:numCache>
                <c:formatCode>General</c:formatCode>
                <c:ptCount val="24"/>
                <c:pt idx="0">
                  <c:v>400</c:v>
                </c:pt>
                <c:pt idx="1">
                  <c:v>338.50959999999998</c:v>
                </c:pt>
                <c:pt idx="2">
                  <c:v>347.43400000000003</c:v>
                </c:pt>
                <c:pt idx="3">
                  <c:v>333.57119999999998</c:v>
                </c:pt>
                <c:pt idx="4">
                  <c:v>371.75440000000003</c:v>
                </c:pt>
                <c:pt idx="5">
                  <c:v>272.37920000000003</c:v>
                </c:pt>
                <c:pt idx="6">
                  <c:v>309.17360000000002</c:v>
                </c:pt>
                <c:pt idx="7">
                  <c:v>237.32959999999997</c:v>
                </c:pt>
                <c:pt idx="8">
                  <c:v>308.59480000000002</c:v>
                </c:pt>
                <c:pt idx="9">
                  <c:v>390.9864</c:v>
                </c:pt>
                <c:pt idx="10">
                  <c:v>288.66679999999997</c:v>
                </c:pt>
                <c:pt idx="11">
                  <c:v>180.5616</c:v>
                </c:pt>
                <c:pt idx="12">
                  <c:v>118.5444</c:v>
                </c:pt>
                <c:pt idx="13">
                  <c:v>134.0264</c:v>
                </c:pt>
                <c:pt idx="14">
                  <c:v>127.08919999999999</c:v>
                </c:pt>
                <c:pt idx="15">
                  <c:v>101.31559999999999</c:v>
                </c:pt>
                <c:pt idx="16">
                  <c:v>185.3972</c:v>
                </c:pt>
                <c:pt idx="17">
                  <c:v>217.2336</c:v>
                </c:pt>
                <c:pt idx="18">
                  <c:v>233.70400000000001</c:v>
                </c:pt>
                <c:pt idx="19">
                  <c:v>266.38320000000004</c:v>
                </c:pt>
                <c:pt idx="20">
                  <c:v>255.49799999999999</c:v>
                </c:pt>
                <c:pt idx="21">
                  <c:v>197.36840000000001</c:v>
                </c:pt>
                <c:pt idx="22">
                  <c:v>219.4648</c:v>
                </c:pt>
                <c:pt idx="23">
                  <c:v>140.30720000000002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27-4C3E-AC89-8B06A0FC1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237202960"/>
        <c:axId val="406029199"/>
      </c:lineChart>
      <c:catAx>
        <c:axId val="123720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6029199"/>
        <c:crosses val="autoZero"/>
        <c:auto val="1"/>
        <c:lblAlgn val="ctr"/>
        <c:lblOffset val="100"/>
        <c:noMultiLvlLbl val="0"/>
      </c:catAx>
      <c:valAx>
        <c:axId val="406029199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202960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Total Cost per Jam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'Cost of Hour'!$A$3</c:f>
              <c:strCache>
                <c:ptCount val="1"/>
                <c:pt idx="0">
                  <c:v>#1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Hour'!$B$3:$Y$3</c:f>
              <c:numCache>
                <c:formatCode>0.00</c:formatCode>
                <c:ptCount val="24"/>
                <c:pt idx="0">
                  <c:v>153313.91</c:v>
                </c:pt>
                <c:pt idx="1">
                  <c:v>141564.67000000001</c:v>
                </c:pt>
                <c:pt idx="2">
                  <c:v>138388.5</c:v>
                </c:pt>
                <c:pt idx="3">
                  <c:v>136306.09</c:v>
                </c:pt>
                <c:pt idx="4">
                  <c:v>136306.09</c:v>
                </c:pt>
                <c:pt idx="5">
                  <c:v>141579.72</c:v>
                </c:pt>
                <c:pt idx="6">
                  <c:v>143185.24</c:v>
                </c:pt>
                <c:pt idx="7">
                  <c:v>141923.34</c:v>
                </c:pt>
                <c:pt idx="8">
                  <c:v>154416.73000000001</c:v>
                </c:pt>
                <c:pt idx="9">
                  <c:v>236345.78</c:v>
                </c:pt>
                <c:pt idx="10">
                  <c:v>181368.91</c:v>
                </c:pt>
                <c:pt idx="11">
                  <c:v>183989.43</c:v>
                </c:pt>
                <c:pt idx="12">
                  <c:v>171149.5</c:v>
                </c:pt>
                <c:pt idx="13">
                  <c:v>180078.76</c:v>
                </c:pt>
                <c:pt idx="14">
                  <c:v>187849.19</c:v>
                </c:pt>
                <c:pt idx="15">
                  <c:v>185551.22</c:v>
                </c:pt>
                <c:pt idx="16">
                  <c:v>182366.47</c:v>
                </c:pt>
                <c:pt idx="17">
                  <c:v>177246.93</c:v>
                </c:pt>
                <c:pt idx="18">
                  <c:v>179897.39</c:v>
                </c:pt>
                <c:pt idx="19">
                  <c:v>189129.08</c:v>
                </c:pt>
                <c:pt idx="20">
                  <c:v>186478.62</c:v>
                </c:pt>
                <c:pt idx="21">
                  <c:v>181026.27</c:v>
                </c:pt>
                <c:pt idx="22">
                  <c:v>167148.57</c:v>
                </c:pt>
                <c:pt idx="23">
                  <c:v>152612.82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6D-4D05-B96D-BBD6859909DA}"/>
            </c:ext>
          </c:extLst>
        </c:ser>
        <c:ser>
          <c:idx val="3"/>
          <c:order val="1"/>
          <c:tx>
            <c:strRef>
              <c:f>'Cost of Hour'!$A$4</c:f>
              <c:strCache>
                <c:ptCount val="1"/>
                <c:pt idx="0">
                  <c:v>#2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Hour'!$B$4:$Y$4</c:f>
              <c:numCache>
                <c:formatCode>General</c:formatCode>
                <c:ptCount val="24"/>
                <c:pt idx="0">
                  <c:v>153298.29</c:v>
                </c:pt>
                <c:pt idx="1">
                  <c:v>143929.01</c:v>
                </c:pt>
                <c:pt idx="2">
                  <c:v>141738.37</c:v>
                </c:pt>
                <c:pt idx="3">
                  <c:v>140870.15</c:v>
                </c:pt>
                <c:pt idx="4">
                  <c:v>139655.97</c:v>
                </c:pt>
                <c:pt idx="5">
                  <c:v>144929.60000000001</c:v>
                </c:pt>
                <c:pt idx="6">
                  <c:v>148060.32</c:v>
                </c:pt>
                <c:pt idx="7">
                  <c:v>147360.35999999999</c:v>
                </c:pt>
                <c:pt idx="8">
                  <c:v>155451.75</c:v>
                </c:pt>
                <c:pt idx="9">
                  <c:v>170602.41</c:v>
                </c:pt>
                <c:pt idx="10">
                  <c:v>185468.06</c:v>
                </c:pt>
                <c:pt idx="11">
                  <c:v>183943.56</c:v>
                </c:pt>
                <c:pt idx="12">
                  <c:v>177253.73</c:v>
                </c:pt>
                <c:pt idx="13">
                  <c:v>182082.92</c:v>
                </c:pt>
                <c:pt idx="14">
                  <c:v>185753.29</c:v>
                </c:pt>
                <c:pt idx="15">
                  <c:v>185833.91</c:v>
                </c:pt>
                <c:pt idx="16">
                  <c:v>185067.09</c:v>
                </c:pt>
                <c:pt idx="17">
                  <c:v>183351.15</c:v>
                </c:pt>
                <c:pt idx="18">
                  <c:v>189309.7</c:v>
                </c:pt>
                <c:pt idx="19">
                  <c:v>194924.37</c:v>
                </c:pt>
                <c:pt idx="20">
                  <c:v>185833.91</c:v>
                </c:pt>
                <c:pt idx="21">
                  <c:v>183030.43</c:v>
                </c:pt>
                <c:pt idx="22">
                  <c:v>161115.26999999999</c:v>
                </c:pt>
                <c:pt idx="23">
                  <c:v>151020.9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6D-4D05-B96D-BBD6859909DA}"/>
            </c:ext>
          </c:extLst>
        </c:ser>
        <c:ser>
          <c:idx val="4"/>
          <c:order val="2"/>
          <c:tx>
            <c:strRef>
              <c:f>'Cost of Hour'!$A$5</c:f>
              <c:strCache>
                <c:ptCount val="1"/>
                <c:pt idx="0">
                  <c:v>#3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Hour'!$B$5:$Y$5</c:f>
              <c:numCache>
                <c:formatCode>General</c:formatCode>
                <c:ptCount val="24"/>
                <c:pt idx="0">
                  <c:v>134328.35999999999</c:v>
                </c:pt>
                <c:pt idx="1">
                  <c:v>135097.51999999999</c:v>
                </c:pt>
                <c:pt idx="2">
                  <c:v>132674.06</c:v>
                </c:pt>
                <c:pt idx="3">
                  <c:v>131605.56</c:v>
                </c:pt>
                <c:pt idx="4">
                  <c:v>132044.29999999999</c:v>
                </c:pt>
                <c:pt idx="5">
                  <c:v>137823.41</c:v>
                </c:pt>
                <c:pt idx="6">
                  <c:v>138468.99</c:v>
                </c:pt>
                <c:pt idx="7">
                  <c:v>141168.6</c:v>
                </c:pt>
                <c:pt idx="8">
                  <c:v>145225.4</c:v>
                </c:pt>
                <c:pt idx="9">
                  <c:v>151589.04999999999</c:v>
                </c:pt>
                <c:pt idx="10">
                  <c:v>160621.09</c:v>
                </c:pt>
                <c:pt idx="11">
                  <c:v>170832.12</c:v>
                </c:pt>
                <c:pt idx="12">
                  <c:v>166295.71</c:v>
                </c:pt>
                <c:pt idx="13">
                  <c:v>167256.39000000001</c:v>
                </c:pt>
                <c:pt idx="14">
                  <c:v>181765.49</c:v>
                </c:pt>
                <c:pt idx="15">
                  <c:v>180246.47</c:v>
                </c:pt>
                <c:pt idx="16">
                  <c:v>173061.4</c:v>
                </c:pt>
                <c:pt idx="17">
                  <c:v>167335.23000000001</c:v>
                </c:pt>
                <c:pt idx="18">
                  <c:v>165041.51</c:v>
                </c:pt>
                <c:pt idx="19">
                  <c:v>170292.08</c:v>
                </c:pt>
                <c:pt idx="20">
                  <c:v>167430.73000000001</c:v>
                </c:pt>
                <c:pt idx="21">
                  <c:v>163932.54999999999</c:v>
                </c:pt>
                <c:pt idx="22">
                  <c:v>153022.46</c:v>
                </c:pt>
                <c:pt idx="23">
                  <c:v>149232.46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06D-4D05-B96D-BBD6859909DA}"/>
            </c:ext>
          </c:extLst>
        </c:ser>
        <c:ser>
          <c:idx val="5"/>
          <c:order val="3"/>
          <c:tx>
            <c:strRef>
              <c:f>'Cost of Hour'!$A$6</c:f>
              <c:strCache>
                <c:ptCount val="1"/>
                <c:pt idx="0">
                  <c:v>#4</c:v>
                </c:pt>
              </c:strCache>
            </c:strRef>
          </c:tx>
          <c:spPr>
            <a:ln w="19050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Hour'!$B$6:$Y$6</c:f>
              <c:numCache>
                <c:formatCode>General</c:formatCode>
                <c:ptCount val="24"/>
                <c:pt idx="0">
                  <c:v>166994.82</c:v>
                </c:pt>
                <c:pt idx="1">
                  <c:v>154271.57</c:v>
                </c:pt>
                <c:pt idx="2">
                  <c:v>150768.47</c:v>
                </c:pt>
                <c:pt idx="3">
                  <c:v>148686.07</c:v>
                </c:pt>
                <c:pt idx="4">
                  <c:v>148686.07</c:v>
                </c:pt>
                <c:pt idx="5">
                  <c:v>153959.70000000001</c:v>
                </c:pt>
                <c:pt idx="6">
                  <c:v>155565.22</c:v>
                </c:pt>
                <c:pt idx="7">
                  <c:v>154303.32</c:v>
                </c:pt>
                <c:pt idx="8">
                  <c:v>164950.85999999999</c:v>
                </c:pt>
                <c:pt idx="9">
                  <c:v>181126.53</c:v>
                </c:pt>
                <c:pt idx="10">
                  <c:v>187989.67</c:v>
                </c:pt>
                <c:pt idx="11">
                  <c:v>190610.18</c:v>
                </c:pt>
                <c:pt idx="12">
                  <c:v>177770.25</c:v>
                </c:pt>
                <c:pt idx="13">
                  <c:v>186699.51</c:v>
                </c:pt>
                <c:pt idx="14">
                  <c:v>194469.95</c:v>
                </c:pt>
                <c:pt idx="15">
                  <c:v>192171.97</c:v>
                </c:pt>
                <c:pt idx="16">
                  <c:v>188987.23</c:v>
                </c:pt>
                <c:pt idx="17">
                  <c:v>183867.68</c:v>
                </c:pt>
                <c:pt idx="18">
                  <c:v>186518.14</c:v>
                </c:pt>
                <c:pt idx="19">
                  <c:v>195749.83</c:v>
                </c:pt>
                <c:pt idx="20">
                  <c:v>193099.37</c:v>
                </c:pt>
                <c:pt idx="21">
                  <c:v>187647.02</c:v>
                </c:pt>
                <c:pt idx="22">
                  <c:v>173769.33</c:v>
                </c:pt>
                <c:pt idx="23">
                  <c:v>163146.95000000001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06D-4D05-B96D-BBD6859909DA}"/>
            </c:ext>
          </c:extLst>
        </c:ser>
        <c:ser>
          <c:idx val="6"/>
          <c:order val="4"/>
          <c:tx>
            <c:strRef>
              <c:f>'Cost of Hour'!$A$7</c:f>
              <c:strCache>
                <c:ptCount val="1"/>
                <c:pt idx="0">
                  <c:v>#5</c:v>
                </c:pt>
              </c:strCache>
            </c:strRef>
          </c:tx>
          <c:spPr>
            <a:ln w="19050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Hour'!$B$7:$Y$7</c:f>
              <c:numCache>
                <c:formatCode>General</c:formatCode>
                <c:ptCount val="24"/>
                <c:pt idx="0">
                  <c:v>167449.32</c:v>
                </c:pt>
                <c:pt idx="1">
                  <c:v>151969.78</c:v>
                </c:pt>
                <c:pt idx="2">
                  <c:v>152662.32</c:v>
                </c:pt>
                <c:pt idx="3">
                  <c:v>149531.6</c:v>
                </c:pt>
                <c:pt idx="4">
                  <c:v>150773.21</c:v>
                </c:pt>
                <c:pt idx="5">
                  <c:v>152434.5</c:v>
                </c:pt>
                <c:pt idx="6">
                  <c:v>155565.22</c:v>
                </c:pt>
                <c:pt idx="7">
                  <c:v>155828.51999999999</c:v>
                </c:pt>
                <c:pt idx="8">
                  <c:v>164950.85999999999</c:v>
                </c:pt>
                <c:pt idx="9">
                  <c:v>180326.11</c:v>
                </c:pt>
                <c:pt idx="10">
                  <c:v>188790.1</c:v>
                </c:pt>
                <c:pt idx="11">
                  <c:v>186510.12</c:v>
                </c:pt>
                <c:pt idx="12">
                  <c:v>181870.32</c:v>
                </c:pt>
                <c:pt idx="13">
                  <c:v>186699.51</c:v>
                </c:pt>
                <c:pt idx="14">
                  <c:v>191394.9</c:v>
                </c:pt>
                <c:pt idx="15">
                  <c:v>192171.97</c:v>
                </c:pt>
                <c:pt idx="16">
                  <c:v>188987.23</c:v>
                </c:pt>
                <c:pt idx="17">
                  <c:v>186942.73</c:v>
                </c:pt>
                <c:pt idx="18">
                  <c:v>185493.12</c:v>
                </c:pt>
                <c:pt idx="19">
                  <c:v>191649.77</c:v>
                </c:pt>
                <c:pt idx="20">
                  <c:v>191649.77</c:v>
                </c:pt>
                <c:pt idx="21">
                  <c:v>184740.31</c:v>
                </c:pt>
                <c:pt idx="22">
                  <c:v>174819.97</c:v>
                </c:pt>
                <c:pt idx="23">
                  <c:v>163146.95000000001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06D-4D05-B96D-BBD6859909DA}"/>
            </c:ext>
          </c:extLst>
        </c:ser>
        <c:ser>
          <c:idx val="7"/>
          <c:order val="5"/>
          <c:tx>
            <c:strRef>
              <c:f>'Cost of Hour'!$A$8</c:f>
              <c:strCache>
                <c:ptCount val="1"/>
                <c:pt idx="0">
                  <c:v>#6</c:v>
                </c:pt>
              </c:strCache>
            </c:strRef>
          </c:tx>
          <c:spPr>
            <a:ln w="19050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Hour'!$B$8:$Y$8</c:f>
              <c:numCache>
                <c:formatCode>General</c:formatCode>
                <c:ptCount val="24"/>
                <c:pt idx="0">
                  <c:v>160633.54999999999</c:v>
                </c:pt>
                <c:pt idx="1">
                  <c:v>142040.48000000001</c:v>
                </c:pt>
                <c:pt idx="2">
                  <c:v>143791.31</c:v>
                </c:pt>
                <c:pt idx="3">
                  <c:v>140660.59</c:v>
                </c:pt>
                <c:pt idx="4">
                  <c:v>138987.25</c:v>
                </c:pt>
                <c:pt idx="5">
                  <c:v>146853.51</c:v>
                </c:pt>
                <c:pt idx="6">
                  <c:v>149026.48000000001</c:v>
                </c:pt>
                <c:pt idx="7">
                  <c:v>148111.54999999999</c:v>
                </c:pt>
                <c:pt idx="8">
                  <c:v>154255.51</c:v>
                </c:pt>
                <c:pt idx="9">
                  <c:v>161088.16</c:v>
                </c:pt>
                <c:pt idx="10">
                  <c:v>173195.26</c:v>
                </c:pt>
                <c:pt idx="11">
                  <c:v>178281.2</c:v>
                </c:pt>
                <c:pt idx="12">
                  <c:v>171694.76</c:v>
                </c:pt>
                <c:pt idx="13">
                  <c:v>179830.55</c:v>
                </c:pt>
                <c:pt idx="14">
                  <c:v>187956.52</c:v>
                </c:pt>
                <c:pt idx="15">
                  <c:v>190054.51</c:v>
                </c:pt>
                <c:pt idx="16">
                  <c:v>179485.47</c:v>
                </c:pt>
                <c:pt idx="17">
                  <c:v>172734.28</c:v>
                </c:pt>
                <c:pt idx="18">
                  <c:v>173515.6</c:v>
                </c:pt>
                <c:pt idx="19">
                  <c:v>179022.42</c:v>
                </c:pt>
                <c:pt idx="20">
                  <c:v>175904.82</c:v>
                </c:pt>
                <c:pt idx="21">
                  <c:v>176250.46</c:v>
                </c:pt>
                <c:pt idx="22">
                  <c:v>162521.57</c:v>
                </c:pt>
                <c:pt idx="23">
                  <c:v>158262.56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06D-4D05-B96D-BBD6859909DA}"/>
            </c:ext>
          </c:extLst>
        </c:ser>
        <c:ser>
          <c:idx val="8"/>
          <c:order val="6"/>
          <c:tx>
            <c:strRef>
              <c:f>'Cost of Hour'!$A$9</c:f>
              <c:strCache>
                <c:ptCount val="1"/>
                <c:pt idx="0">
                  <c:v>#7</c:v>
                </c:pt>
              </c:strCache>
            </c:strRef>
          </c:tx>
          <c:spPr>
            <a:ln w="19050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Hour'!$B$9:$Y$9</c:f>
              <c:numCache>
                <c:formatCode>General</c:formatCode>
                <c:ptCount val="24"/>
                <c:pt idx="0">
                  <c:v>160633.54999999999</c:v>
                </c:pt>
                <c:pt idx="1">
                  <c:v>144127.63</c:v>
                </c:pt>
                <c:pt idx="2">
                  <c:v>141704.16</c:v>
                </c:pt>
                <c:pt idx="3">
                  <c:v>137896.28</c:v>
                </c:pt>
                <c:pt idx="4">
                  <c:v>139117.70000000001</c:v>
                </c:pt>
                <c:pt idx="5">
                  <c:v>146188.24</c:v>
                </c:pt>
                <c:pt idx="6">
                  <c:v>149586.23999999999</c:v>
                </c:pt>
                <c:pt idx="7">
                  <c:v>149422.5</c:v>
                </c:pt>
                <c:pt idx="8">
                  <c:v>155683.94</c:v>
                </c:pt>
                <c:pt idx="9">
                  <c:v>160645.31</c:v>
                </c:pt>
                <c:pt idx="10">
                  <c:v>172752.41</c:v>
                </c:pt>
                <c:pt idx="11">
                  <c:v>179770.53</c:v>
                </c:pt>
                <c:pt idx="12">
                  <c:v>168509</c:v>
                </c:pt>
                <c:pt idx="13">
                  <c:v>179387.71</c:v>
                </c:pt>
                <c:pt idx="14">
                  <c:v>187513.68</c:v>
                </c:pt>
                <c:pt idx="15">
                  <c:v>186536.62</c:v>
                </c:pt>
                <c:pt idx="16">
                  <c:v>179042.62</c:v>
                </c:pt>
                <c:pt idx="17">
                  <c:v>172291.44</c:v>
                </c:pt>
                <c:pt idx="18">
                  <c:v>174097.77</c:v>
                </c:pt>
                <c:pt idx="19">
                  <c:v>181654.63</c:v>
                </c:pt>
                <c:pt idx="20">
                  <c:v>176819.13</c:v>
                </c:pt>
                <c:pt idx="21">
                  <c:v>176174.58</c:v>
                </c:pt>
                <c:pt idx="22">
                  <c:v>161164.42000000001</c:v>
                </c:pt>
                <c:pt idx="23">
                  <c:v>158262.56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06D-4D05-B96D-BBD6859909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4648528"/>
        <c:axId val="954649488"/>
      </c:scatterChart>
      <c:valAx>
        <c:axId val="954648528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649488"/>
        <c:crosses val="autoZero"/>
        <c:crossBetween val="midCat"/>
        <c:majorUnit val="1"/>
      </c:valAx>
      <c:valAx>
        <c:axId val="954649488"/>
        <c:scaling>
          <c:orientation val="minMax"/>
          <c:max val="240000"/>
          <c:min val="1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648528"/>
        <c:crosses val="autoZero"/>
        <c:crossBetween val="midCat"/>
        <c:majorUnit val="1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Charge/Discharge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Battery!$AB$4</c:f>
              <c:strCache>
                <c:ptCount val="1"/>
                <c:pt idx="0">
                  <c:v>#1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Battery!$AC$4:$AZ$4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B9-473A-ADB4-3BAB7BC926B4}"/>
            </c:ext>
          </c:extLst>
        </c:ser>
        <c:ser>
          <c:idx val="1"/>
          <c:order val="1"/>
          <c:tx>
            <c:strRef>
              <c:f>Battery!$AB$5</c:f>
              <c:strCache>
                <c:ptCount val="1"/>
                <c:pt idx="0">
                  <c:v>#2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Battery!$AC$5:$AZ$5</c:f>
              <c:numCache>
                <c:formatCode>0.00</c:formatCode>
                <c:ptCount val="24"/>
                <c:pt idx="0">
                  <c:v>-20.500000000000004</c:v>
                </c:pt>
                <c:pt idx="1">
                  <c:v>0</c:v>
                </c:pt>
                <c:pt idx="2">
                  <c:v>0</c:v>
                </c:pt>
                <c:pt idx="3">
                  <c:v>46.539388203151589</c:v>
                </c:pt>
                <c:pt idx="4">
                  <c:v>0</c:v>
                </c:pt>
                <c:pt idx="5">
                  <c:v>0</c:v>
                </c:pt>
                <c:pt idx="6">
                  <c:v>58.460611796848411</c:v>
                </c:pt>
                <c:pt idx="7">
                  <c:v>80</c:v>
                </c:pt>
                <c:pt idx="8">
                  <c:v>0</c:v>
                </c:pt>
                <c:pt idx="9">
                  <c:v>-20</c:v>
                </c:pt>
                <c:pt idx="10">
                  <c:v>-20</c:v>
                </c:pt>
                <c:pt idx="11">
                  <c:v>-40</c:v>
                </c:pt>
                <c:pt idx="12">
                  <c:v>80</c:v>
                </c:pt>
                <c:pt idx="13">
                  <c:v>0</c:v>
                </c:pt>
                <c:pt idx="14">
                  <c:v>-80</c:v>
                </c:pt>
                <c:pt idx="15">
                  <c:v>-33.589143777138702</c:v>
                </c:pt>
                <c:pt idx="16">
                  <c:v>13.5891437771387</c:v>
                </c:pt>
                <c:pt idx="17">
                  <c:v>80</c:v>
                </c:pt>
                <c:pt idx="18">
                  <c:v>20</c:v>
                </c:pt>
                <c:pt idx="19">
                  <c:v>0</c:v>
                </c:pt>
                <c:pt idx="20">
                  <c:v>-51.684545055375111</c:v>
                </c:pt>
                <c:pt idx="21">
                  <c:v>0</c:v>
                </c:pt>
                <c:pt idx="22">
                  <c:v>-61.558953017513431</c:v>
                </c:pt>
                <c:pt idx="23">
                  <c:v>-51.256501927111458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B9-473A-ADB4-3BAB7BC926B4}"/>
            </c:ext>
          </c:extLst>
        </c:ser>
        <c:ser>
          <c:idx val="2"/>
          <c:order val="2"/>
          <c:tx>
            <c:strRef>
              <c:f>Battery!$AB$6</c:f>
              <c:strCache>
                <c:ptCount val="1"/>
                <c:pt idx="0">
                  <c:v>#3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Battery!$AC$6:$AZ$6</c:f>
              <c:numCache>
                <c:formatCode>0.00</c:formatCode>
                <c:ptCount val="24"/>
                <c:pt idx="0">
                  <c:v>-20.500000000000014</c:v>
                </c:pt>
                <c:pt idx="1">
                  <c:v>0</c:v>
                </c:pt>
                <c:pt idx="2">
                  <c:v>0</c:v>
                </c:pt>
                <c:pt idx="3">
                  <c:v>25</c:v>
                </c:pt>
                <c:pt idx="4">
                  <c:v>80</c:v>
                </c:pt>
                <c:pt idx="5">
                  <c:v>0</c:v>
                </c:pt>
                <c:pt idx="6">
                  <c:v>0</c:v>
                </c:pt>
                <c:pt idx="7">
                  <c:v>80</c:v>
                </c:pt>
                <c:pt idx="8">
                  <c:v>0</c:v>
                </c:pt>
                <c:pt idx="9">
                  <c:v>0</c:v>
                </c:pt>
                <c:pt idx="10">
                  <c:v>-60</c:v>
                </c:pt>
                <c:pt idx="11">
                  <c:v>-20</c:v>
                </c:pt>
                <c:pt idx="12">
                  <c:v>80</c:v>
                </c:pt>
                <c:pt idx="13">
                  <c:v>-60</c:v>
                </c:pt>
                <c:pt idx="14">
                  <c:v>-60</c:v>
                </c:pt>
                <c:pt idx="15">
                  <c:v>-20</c:v>
                </c:pt>
                <c:pt idx="16">
                  <c:v>60</c:v>
                </c:pt>
                <c:pt idx="17">
                  <c:v>80</c:v>
                </c:pt>
                <c:pt idx="18">
                  <c:v>0</c:v>
                </c:pt>
                <c:pt idx="19">
                  <c:v>-45</c:v>
                </c:pt>
                <c:pt idx="20">
                  <c:v>-60</c:v>
                </c:pt>
                <c:pt idx="21">
                  <c:v>-80</c:v>
                </c:pt>
                <c:pt idx="22">
                  <c:v>0</c:v>
                </c:pt>
                <c:pt idx="23">
                  <c:v>20.500000000000025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B9-473A-ADB4-3BAB7BC926B4}"/>
            </c:ext>
          </c:extLst>
        </c:ser>
        <c:ser>
          <c:idx val="3"/>
          <c:order val="3"/>
          <c:tx>
            <c:strRef>
              <c:f>Battery!$AB$7</c:f>
              <c:strCache>
                <c:ptCount val="1"/>
                <c:pt idx="0">
                  <c:v>#4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Battery!$AC$7:$AZ$7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B9-473A-ADB4-3BAB7BC926B4}"/>
            </c:ext>
          </c:extLst>
        </c:ser>
        <c:ser>
          <c:idx val="4"/>
          <c:order val="4"/>
          <c:tx>
            <c:strRef>
              <c:f>Battery!$AB$8</c:f>
              <c:strCache>
                <c:ptCount val="1"/>
                <c:pt idx="0">
                  <c:v>#5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Battery!$AC$8:$AZ$8</c:f>
              <c:numCache>
                <c:formatCode>0.00</c:formatCode>
                <c:ptCount val="24"/>
                <c:pt idx="0">
                  <c:v>17.42080963067804</c:v>
                </c:pt>
                <c:pt idx="1">
                  <c:v>-37.920809630678036</c:v>
                </c:pt>
                <c:pt idx="2">
                  <c:v>72.590792798946268</c:v>
                </c:pt>
                <c:pt idx="3">
                  <c:v>32.409207201053732</c:v>
                </c:pt>
                <c:pt idx="4">
                  <c:v>80</c:v>
                </c:pt>
                <c:pt idx="5">
                  <c:v>-58.460611796848752</c:v>
                </c:pt>
                <c:pt idx="6">
                  <c:v>0</c:v>
                </c:pt>
                <c:pt idx="7">
                  <c:v>58.460611796848752</c:v>
                </c:pt>
                <c:pt idx="8">
                  <c:v>0</c:v>
                </c:pt>
                <c:pt idx="9">
                  <c:v>-15.61785236864057</c:v>
                </c:pt>
                <c:pt idx="10">
                  <c:v>15.61785236864057</c:v>
                </c:pt>
                <c:pt idx="11">
                  <c:v>-80</c:v>
                </c:pt>
                <c:pt idx="12">
                  <c:v>80</c:v>
                </c:pt>
                <c:pt idx="13">
                  <c:v>0</c:v>
                </c:pt>
                <c:pt idx="14">
                  <c:v>-60</c:v>
                </c:pt>
                <c:pt idx="15">
                  <c:v>0</c:v>
                </c:pt>
                <c:pt idx="16">
                  <c:v>0</c:v>
                </c:pt>
                <c:pt idx="17">
                  <c:v>60</c:v>
                </c:pt>
                <c:pt idx="18">
                  <c:v>-20</c:v>
                </c:pt>
                <c:pt idx="19">
                  <c:v>-80</c:v>
                </c:pt>
                <c:pt idx="20">
                  <c:v>-28.284545055373659</c:v>
                </c:pt>
                <c:pt idx="21">
                  <c:v>-56.715454944626337</c:v>
                </c:pt>
                <c:pt idx="22">
                  <c:v>20.5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B9-473A-ADB4-3BAB7BC926B4}"/>
            </c:ext>
          </c:extLst>
        </c:ser>
        <c:ser>
          <c:idx val="5"/>
          <c:order val="5"/>
          <c:tx>
            <c:strRef>
              <c:f>Battery!$AB$9</c:f>
              <c:strCache>
                <c:ptCount val="1"/>
                <c:pt idx="0">
                  <c:v>#6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Battery!$AC$9:$AZ$9</c:f>
              <c:numCache>
                <c:formatCode>0.00</c:formatCode>
                <c:ptCount val="24"/>
                <c:pt idx="0">
                  <c:v>80</c:v>
                </c:pt>
                <c:pt idx="1">
                  <c:v>-80</c:v>
                </c:pt>
                <c:pt idx="2">
                  <c:v>80</c:v>
                </c:pt>
                <c:pt idx="3">
                  <c:v>25.95561440210599</c:v>
                </c:pt>
                <c:pt idx="4">
                  <c:v>0</c:v>
                </c:pt>
                <c:pt idx="5">
                  <c:v>0</c:v>
                </c:pt>
                <c:pt idx="6">
                  <c:v>58.544385597894014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-60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60</c:v>
                </c:pt>
                <c:pt idx="16">
                  <c:v>0</c:v>
                </c:pt>
                <c:pt idx="17">
                  <c:v>0</c:v>
                </c:pt>
                <c:pt idx="18">
                  <c:v>-20</c:v>
                </c:pt>
                <c:pt idx="19">
                  <c:v>-60</c:v>
                </c:pt>
                <c:pt idx="20">
                  <c:v>-80</c:v>
                </c:pt>
                <c:pt idx="21">
                  <c:v>-25</c:v>
                </c:pt>
                <c:pt idx="22">
                  <c:v>0</c:v>
                </c:pt>
                <c:pt idx="23">
                  <c:v>20.500000000000004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4B9-473A-ADB4-3BAB7BC926B4}"/>
            </c:ext>
          </c:extLst>
        </c:ser>
        <c:ser>
          <c:idx val="6"/>
          <c:order val="6"/>
          <c:tx>
            <c:strRef>
              <c:f>Battery!$AB$10</c:f>
              <c:strCache>
                <c:ptCount val="1"/>
                <c:pt idx="0">
                  <c:v>#7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Battery!$AC$10:$AZ$10</c:f>
              <c:numCache>
                <c:formatCode>0.00</c:formatCode>
                <c:ptCount val="24"/>
                <c:pt idx="0">
                  <c:v>80</c:v>
                </c:pt>
                <c:pt idx="1">
                  <c:v>0</c:v>
                </c:pt>
                <c:pt idx="2">
                  <c:v>0</c:v>
                </c:pt>
                <c:pt idx="3">
                  <c:v>-80</c:v>
                </c:pt>
                <c:pt idx="4">
                  <c:v>5.0000000000000044</c:v>
                </c:pt>
                <c:pt idx="5">
                  <c:v>-25.5</c:v>
                </c:pt>
                <c:pt idx="6">
                  <c:v>80</c:v>
                </c:pt>
                <c:pt idx="7">
                  <c:v>50.24846161877349</c:v>
                </c:pt>
                <c:pt idx="8">
                  <c:v>54.75153838122651</c:v>
                </c:pt>
                <c:pt idx="9">
                  <c:v>0</c:v>
                </c:pt>
                <c:pt idx="10">
                  <c:v>0</c:v>
                </c:pt>
                <c:pt idx="11">
                  <c:v>-24.999999999999972</c:v>
                </c:pt>
                <c:pt idx="12">
                  <c:v>-60.000000000000007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-60.000000000000007</c:v>
                </c:pt>
                <c:pt idx="21">
                  <c:v>-20</c:v>
                </c:pt>
                <c:pt idx="22">
                  <c:v>-20.000000000000011</c:v>
                </c:pt>
                <c:pt idx="23">
                  <c:v>20.500000000000014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B9-473A-ADB4-3BAB7BC926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3210272"/>
        <c:axId val="683207872"/>
      </c:barChart>
      <c:catAx>
        <c:axId val="68321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207872"/>
        <c:crosses val="autoZero"/>
        <c:auto val="1"/>
        <c:lblAlgn val="ctr"/>
        <c:lblOffset val="100"/>
        <c:noMultiLvlLbl val="0"/>
      </c:catAx>
      <c:valAx>
        <c:axId val="68320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21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State of Charge Battery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Battery!$AB$16</c:f>
              <c:strCache>
                <c:ptCount val="1"/>
                <c:pt idx="0">
                  <c:v>#1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Battery!$AC$16:$AZ$16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D0-46F1-8B28-7216BEC47071}"/>
            </c:ext>
          </c:extLst>
        </c:ser>
        <c:ser>
          <c:idx val="3"/>
          <c:order val="1"/>
          <c:tx>
            <c:strRef>
              <c:f>Battery!$AB$17</c:f>
              <c:strCache>
                <c:ptCount val="1"/>
                <c:pt idx="0">
                  <c:v>#2</c:v>
                </c:pt>
              </c:strCache>
            </c:strRef>
          </c:tx>
          <c:spPr>
            <a:ln w="254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Battery!$AC$17:$AZ$17</c:f>
              <c:numCache>
                <c:formatCode>0.00</c:formatCode>
                <c:ptCount val="24"/>
                <c:pt idx="0">
                  <c:v>19.999999999999993</c:v>
                </c:pt>
                <c:pt idx="1">
                  <c:v>20</c:v>
                </c:pt>
                <c:pt idx="2">
                  <c:v>20</c:v>
                </c:pt>
                <c:pt idx="3">
                  <c:v>66.539388203151589</c:v>
                </c:pt>
                <c:pt idx="4">
                  <c:v>66.539388203151589</c:v>
                </c:pt>
                <c:pt idx="5">
                  <c:v>66.539388203151589</c:v>
                </c:pt>
                <c:pt idx="6">
                  <c:v>125</c:v>
                </c:pt>
                <c:pt idx="7">
                  <c:v>205</c:v>
                </c:pt>
                <c:pt idx="8">
                  <c:v>205</c:v>
                </c:pt>
                <c:pt idx="9">
                  <c:v>185</c:v>
                </c:pt>
                <c:pt idx="10">
                  <c:v>165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125</c:v>
                </c:pt>
                <c:pt idx="15">
                  <c:v>91.410856222861298</c:v>
                </c:pt>
                <c:pt idx="16">
                  <c:v>105</c:v>
                </c:pt>
                <c:pt idx="17">
                  <c:v>185</c:v>
                </c:pt>
                <c:pt idx="18">
                  <c:v>205</c:v>
                </c:pt>
                <c:pt idx="19">
                  <c:v>205</c:v>
                </c:pt>
                <c:pt idx="20">
                  <c:v>153.31545494462489</c:v>
                </c:pt>
                <c:pt idx="21">
                  <c:v>153.31545494462489</c:v>
                </c:pt>
                <c:pt idx="22">
                  <c:v>91.756501927111458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D0-46F1-8B28-7216BEC47071}"/>
            </c:ext>
          </c:extLst>
        </c:ser>
        <c:ser>
          <c:idx val="4"/>
          <c:order val="2"/>
          <c:tx>
            <c:strRef>
              <c:f>Battery!$AB$18</c:f>
              <c:strCache>
                <c:ptCount val="1"/>
                <c:pt idx="0">
                  <c:v>#3</c:v>
                </c:pt>
              </c:strCache>
            </c:strRef>
          </c:tx>
          <c:spPr>
            <a:ln w="254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Battery!$AC$18:$AZ$18</c:f>
              <c:numCache>
                <c:formatCode>0.00</c:formatCode>
                <c:ptCount val="24"/>
                <c:pt idx="0">
                  <c:v>19.999999999999989</c:v>
                </c:pt>
                <c:pt idx="1">
                  <c:v>20</c:v>
                </c:pt>
                <c:pt idx="2">
                  <c:v>20</c:v>
                </c:pt>
                <c:pt idx="3">
                  <c:v>45</c:v>
                </c:pt>
                <c:pt idx="4">
                  <c:v>125</c:v>
                </c:pt>
                <c:pt idx="5">
                  <c:v>125</c:v>
                </c:pt>
                <c:pt idx="6">
                  <c:v>125</c:v>
                </c:pt>
                <c:pt idx="7">
                  <c:v>205</c:v>
                </c:pt>
                <c:pt idx="8">
                  <c:v>205</c:v>
                </c:pt>
                <c:pt idx="9">
                  <c:v>205</c:v>
                </c:pt>
                <c:pt idx="10">
                  <c:v>145</c:v>
                </c:pt>
                <c:pt idx="11">
                  <c:v>125</c:v>
                </c:pt>
                <c:pt idx="12">
                  <c:v>205</c:v>
                </c:pt>
                <c:pt idx="13">
                  <c:v>145</c:v>
                </c:pt>
                <c:pt idx="14">
                  <c:v>85</c:v>
                </c:pt>
                <c:pt idx="15">
                  <c:v>65</c:v>
                </c:pt>
                <c:pt idx="16">
                  <c:v>125</c:v>
                </c:pt>
                <c:pt idx="17">
                  <c:v>205</c:v>
                </c:pt>
                <c:pt idx="18">
                  <c:v>205</c:v>
                </c:pt>
                <c:pt idx="19">
                  <c:v>160</c:v>
                </c:pt>
                <c:pt idx="20">
                  <c:v>100</c:v>
                </c:pt>
                <c:pt idx="21">
                  <c:v>20</c:v>
                </c:pt>
                <c:pt idx="22">
                  <c:v>19.999999999999972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ED0-46F1-8B28-7216BEC47071}"/>
            </c:ext>
          </c:extLst>
        </c:ser>
        <c:ser>
          <c:idx val="5"/>
          <c:order val="3"/>
          <c:tx>
            <c:strRef>
              <c:f>Battery!$AB$19</c:f>
              <c:strCache>
                <c:ptCount val="1"/>
                <c:pt idx="0">
                  <c:v>#4</c:v>
                </c:pt>
              </c:strCache>
            </c:strRef>
          </c:tx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Battery!$AC$19:$AZ$19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ED0-46F1-8B28-7216BEC47071}"/>
            </c:ext>
          </c:extLst>
        </c:ser>
        <c:ser>
          <c:idx val="6"/>
          <c:order val="4"/>
          <c:tx>
            <c:strRef>
              <c:f>Battery!$AB$20</c:f>
              <c:strCache>
                <c:ptCount val="1"/>
                <c:pt idx="0">
                  <c:v>#5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Battery!$AC$20:$AZ$20</c:f>
              <c:numCache>
                <c:formatCode>0.00</c:formatCode>
                <c:ptCount val="24"/>
                <c:pt idx="0">
                  <c:v>57.920809630678036</c:v>
                </c:pt>
                <c:pt idx="1">
                  <c:v>20</c:v>
                </c:pt>
                <c:pt idx="2">
                  <c:v>92.590792798946268</c:v>
                </c:pt>
                <c:pt idx="3">
                  <c:v>125</c:v>
                </c:pt>
                <c:pt idx="4">
                  <c:v>205</c:v>
                </c:pt>
                <c:pt idx="5">
                  <c:v>146.53938820315125</c:v>
                </c:pt>
                <c:pt idx="6">
                  <c:v>146.53938820315125</c:v>
                </c:pt>
                <c:pt idx="7">
                  <c:v>205</c:v>
                </c:pt>
                <c:pt idx="8">
                  <c:v>205</c:v>
                </c:pt>
                <c:pt idx="9">
                  <c:v>189.3821476313594</c:v>
                </c:pt>
                <c:pt idx="10">
                  <c:v>205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145</c:v>
                </c:pt>
                <c:pt idx="15">
                  <c:v>145</c:v>
                </c:pt>
                <c:pt idx="16">
                  <c:v>145</c:v>
                </c:pt>
                <c:pt idx="17">
                  <c:v>205</c:v>
                </c:pt>
                <c:pt idx="18">
                  <c:v>185</c:v>
                </c:pt>
                <c:pt idx="19">
                  <c:v>105</c:v>
                </c:pt>
                <c:pt idx="20">
                  <c:v>76.715454944626345</c:v>
                </c:pt>
                <c:pt idx="21">
                  <c:v>20</c:v>
                </c:pt>
                <c:pt idx="22">
                  <c:v>40.5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ED0-46F1-8B28-7216BEC47071}"/>
            </c:ext>
          </c:extLst>
        </c:ser>
        <c:ser>
          <c:idx val="7"/>
          <c:order val="5"/>
          <c:tx>
            <c:strRef>
              <c:f>Battery!$AB$21</c:f>
              <c:strCache>
                <c:ptCount val="1"/>
                <c:pt idx="0">
                  <c:v>#6</c:v>
                </c:pt>
              </c:strCache>
            </c:strRef>
          </c:tx>
          <c:spPr>
            <a:ln w="2540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Battery!$AC$21:$AZ$21</c:f>
              <c:numCache>
                <c:formatCode>0.00</c:formatCode>
                <c:ptCount val="24"/>
                <c:pt idx="0">
                  <c:v>120.5</c:v>
                </c:pt>
                <c:pt idx="1">
                  <c:v>40.5</c:v>
                </c:pt>
                <c:pt idx="2">
                  <c:v>120.5</c:v>
                </c:pt>
                <c:pt idx="3">
                  <c:v>146.45561440210599</c:v>
                </c:pt>
                <c:pt idx="4">
                  <c:v>146.45561440210599</c:v>
                </c:pt>
                <c:pt idx="5">
                  <c:v>146.45561440210599</c:v>
                </c:pt>
                <c:pt idx="6">
                  <c:v>205</c:v>
                </c:pt>
                <c:pt idx="7">
                  <c:v>205</c:v>
                </c:pt>
                <c:pt idx="8">
                  <c:v>205</c:v>
                </c:pt>
                <c:pt idx="9">
                  <c:v>205</c:v>
                </c:pt>
                <c:pt idx="10">
                  <c:v>205</c:v>
                </c:pt>
                <c:pt idx="11">
                  <c:v>145</c:v>
                </c:pt>
                <c:pt idx="12">
                  <c:v>145</c:v>
                </c:pt>
                <c:pt idx="13">
                  <c:v>145</c:v>
                </c:pt>
                <c:pt idx="14">
                  <c:v>145</c:v>
                </c:pt>
                <c:pt idx="15">
                  <c:v>205</c:v>
                </c:pt>
                <c:pt idx="16">
                  <c:v>205</c:v>
                </c:pt>
                <c:pt idx="17">
                  <c:v>205</c:v>
                </c:pt>
                <c:pt idx="18">
                  <c:v>185</c:v>
                </c:pt>
                <c:pt idx="19">
                  <c:v>125</c:v>
                </c:pt>
                <c:pt idx="20">
                  <c:v>45</c:v>
                </c:pt>
                <c:pt idx="21">
                  <c:v>20</c:v>
                </c:pt>
                <c:pt idx="22">
                  <c:v>19.999999999999993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ED0-46F1-8B28-7216BEC47071}"/>
            </c:ext>
          </c:extLst>
        </c:ser>
        <c:ser>
          <c:idx val="8"/>
          <c:order val="6"/>
          <c:tx>
            <c:strRef>
              <c:f>Battery!$AB$22</c:f>
              <c:strCache>
                <c:ptCount val="1"/>
                <c:pt idx="0">
                  <c:v>#7</c:v>
                </c:pt>
              </c:strCache>
            </c:strRef>
          </c:tx>
          <c:spPr>
            <a:ln w="2540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Battery!$AC$22:$AZ$22</c:f>
              <c:numCache>
                <c:formatCode>0.00</c:formatCode>
                <c:ptCount val="24"/>
                <c:pt idx="0">
                  <c:v>120.5</c:v>
                </c:pt>
                <c:pt idx="1">
                  <c:v>120.5</c:v>
                </c:pt>
                <c:pt idx="2">
                  <c:v>120.5</c:v>
                </c:pt>
                <c:pt idx="3">
                  <c:v>40.5</c:v>
                </c:pt>
                <c:pt idx="4">
                  <c:v>45.5</c:v>
                </c:pt>
                <c:pt idx="5">
                  <c:v>20</c:v>
                </c:pt>
                <c:pt idx="6">
                  <c:v>100</c:v>
                </c:pt>
                <c:pt idx="7">
                  <c:v>150.24846161877349</c:v>
                </c:pt>
                <c:pt idx="8">
                  <c:v>205</c:v>
                </c:pt>
                <c:pt idx="9">
                  <c:v>205</c:v>
                </c:pt>
                <c:pt idx="10">
                  <c:v>205</c:v>
                </c:pt>
                <c:pt idx="11">
                  <c:v>180</c:v>
                </c:pt>
                <c:pt idx="12">
                  <c:v>120.00000000000001</c:v>
                </c:pt>
                <c:pt idx="13">
                  <c:v>120.00000000000001</c:v>
                </c:pt>
                <c:pt idx="14">
                  <c:v>120.00000000000001</c:v>
                </c:pt>
                <c:pt idx="15">
                  <c:v>120.00000000000001</c:v>
                </c:pt>
                <c:pt idx="16">
                  <c:v>120.00000000000001</c:v>
                </c:pt>
                <c:pt idx="17">
                  <c:v>120.00000000000001</c:v>
                </c:pt>
                <c:pt idx="18">
                  <c:v>120.00000000000001</c:v>
                </c:pt>
                <c:pt idx="19">
                  <c:v>120.00000000000001</c:v>
                </c:pt>
                <c:pt idx="20">
                  <c:v>60</c:v>
                </c:pt>
                <c:pt idx="21">
                  <c:v>40</c:v>
                </c:pt>
                <c:pt idx="22">
                  <c:v>19.999999999999982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AED0-46F1-8B28-7216BEC47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8709632"/>
        <c:axId val="818715872"/>
      </c:scatterChart>
      <c:valAx>
        <c:axId val="818709632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715872"/>
        <c:crosses val="autoZero"/>
        <c:crossBetween val="midCat"/>
        <c:majorUnit val="1"/>
      </c:valAx>
      <c:valAx>
        <c:axId val="81871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7096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Wind Turbine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WT!$A$22</c:f>
              <c:strCache>
                <c:ptCount val="1"/>
                <c:pt idx="0">
                  <c:v>Available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WT!$B$22:$Y$22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973-445E-BA37-F06080D3342E}"/>
            </c:ext>
          </c:extLst>
        </c:ser>
        <c:ser>
          <c:idx val="3"/>
          <c:order val="1"/>
          <c:tx>
            <c:strRef>
              <c:f>WT!$A$23</c:f>
              <c:strCache>
                <c:ptCount val="1"/>
                <c:pt idx="0">
                  <c:v>Curtailment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WT!$B$23:$Y$23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973-445E-BA37-F06080D3342E}"/>
            </c:ext>
          </c:extLst>
        </c:ser>
        <c:ser>
          <c:idx val="4"/>
          <c:order val="2"/>
          <c:tx>
            <c:strRef>
              <c:f>WT!$A$24</c:f>
              <c:strCache>
                <c:ptCount val="1"/>
                <c:pt idx="0">
                  <c:v>Used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WT!$B$24:$Y$24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973-445E-BA37-F06080D33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8327776"/>
        <c:axId val="828328256"/>
      </c:scatterChart>
      <c:valAx>
        <c:axId val="828327776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8328256"/>
        <c:crosses val="autoZero"/>
        <c:crossBetween val="midCat"/>
        <c:majorUnit val="1"/>
      </c:valAx>
      <c:valAx>
        <c:axId val="82832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83277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Wind Turbine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WT!$A$49</c:f>
              <c:strCache>
                <c:ptCount val="1"/>
                <c:pt idx="0">
                  <c:v>Available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WT!$B$49:$Y$49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15B-42D9-8D3F-4D4C60767813}"/>
            </c:ext>
          </c:extLst>
        </c:ser>
        <c:ser>
          <c:idx val="3"/>
          <c:order val="1"/>
          <c:tx>
            <c:strRef>
              <c:f>WT!$A$50</c:f>
              <c:strCache>
                <c:ptCount val="1"/>
                <c:pt idx="0">
                  <c:v>Curtailment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WT!$B$50:$Y$50</c:f>
              <c:numCache>
                <c:formatCode>General</c:formatCode>
                <c:ptCount val="24"/>
                <c:pt idx="0">
                  <c:v>76.17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15B-42D9-8D3F-4D4C60767813}"/>
            </c:ext>
          </c:extLst>
        </c:ser>
        <c:ser>
          <c:idx val="4"/>
          <c:order val="2"/>
          <c:tx>
            <c:strRef>
              <c:f>WT!$A$51</c:f>
              <c:strCache>
                <c:ptCount val="1"/>
                <c:pt idx="0">
                  <c:v>Used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WT!$B$51:$Y$51</c:f>
              <c:numCache>
                <c:formatCode>General</c:formatCode>
                <c:ptCount val="24"/>
                <c:pt idx="0">
                  <c:v>323.83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15B-42D9-8D3F-4D4C60767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3636320"/>
        <c:axId val="673638240"/>
      </c:scatterChart>
      <c:valAx>
        <c:axId val="673636320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3638240"/>
        <c:crosses val="autoZero"/>
        <c:crossBetween val="midCat"/>
        <c:majorUnit val="1"/>
      </c:valAx>
      <c:valAx>
        <c:axId val="67363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36363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Total</a:t>
            </a:r>
            <a:r>
              <a:rPr lang="en-ID" baseline="0"/>
              <a:t> </a:t>
            </a:r>
            <a:r>
              <a:rPr lang="en-ID"/>
              <a:t>Inersia Sistem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Inertia!$AB$50</c:f>
              <c:strCache>
                <c:ptCount val="1"/>
                <c:pt idx="0">
                  <c:v>#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Inertia!$AC$50:$AZ$50</c:f>
              <c:numCache>
                <c:formatCode>General</c:formatCode>
                <c:ptCount val="24"/>
                <c:pt idx="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B53-4722-82B2-016634EB3831}"/>
            </c:ext>
          </c:extLst>
        </c:ser>
        <c:ser>
          <c:idx val="1"/>
          <c:order val="1"/>
          <c:tx>
            <c:strRef>
              <c:f>Inertia!$AB$51</c:f>
              <c:strCache>
                <c:ptCount val="1"/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yVal>
            <c:numRef>
              <c:f>Inertia!$AC$51:$AZ$51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B53-4722-82B2-016634EB3831}"/>
            </c:ext>
          </c:extLst>
        </c:ser>
        <c:ser>
          <c:idx val="2"/>
          <c:order val="2"/>
          <c:tx>
            <c:strRef>
              <c:f>Inertia!$AB$52</c:f>
              <c:strCache>
                <c:ptCount val="1"/>
                <c:pt idx="0">
                  <c:v>#1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Inertia!$AC$52:$AZ$52</c:f>
              <c:numCache>
                <c:formatCode>General</c:formatCode>
                <c:ptCount val="24"/>
                <c:pt idx="0">
                  <c:v>32565</c:v>
                </c:pt>
                <c:pt idx="1">
                  <c:v>32565</c:v>
                </c:pt>
                <c:pt idx="2">
                  <c:v>32565</c:v>
                </c:pt>
                <c:pt idx="3">
                  <c:v>32565</c:v>
                </c:pt>
                <c:pt idx="4">
                  <c:v>32565</c:v>
                </c:pt>
                <c:pt idx="5">
                  <c:v>32565</c:v>
                </c:pt>
                <c:pt idx="6">
                  <c:v>32565</c:v>
                </c:pt>
                <c:pt idx="7">
                  <c:v>32565</c:v>
                </c:pt>
                <c:pt idx="8">
                  <c:v>32565</c:v>
                </c:pt>
                <c:pt idx="9">
                  <c:v>39522</c:v>
                </c:pt>
                <c:pt idx="10">
                  <c:v>39522</c:v>
                </c:pt>
                <c:pt idx="11">
                  <c:v>39522</c:v>
                </c:pt>
                <c:pt idx="12">
                  <c:v>39522</c:v>
                </c:pt>
                <c:pt idx="13">
                  <c:v>39522</c:v>
                </c:pt>
                <c:pt idx="14">
                  <c:v>39522</c:v>
                </c:pt>
                <c:pt idx="15">
                  <c:v>39522</c:v>
                </c:pt>
                <c:pt idx="16">
                  <c:v>39522</c:v>
                </c:pt>
                <c:pt idx="17">
                  <c:v>39522</c:v>
                </c:pt>
                <c:pt idx="18">
                  <c:v>39522</c:v>
                </c:pt>
                <c:pt idx="19">
                  <c:v>39522</c:v>
                </c:pt>
                <c:pt idx="20">
                  <c:v>39522</c:v>
                </c:pt>
                <c:pt idx="21">
                  <c:v>39522</c:v>
                </c:pt>
                <c:pt idx="22">
                  <c:v>39522</c:v>
                </c:pt>
                <c:pt idx="23">
                  <c:v>32565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B53-4722-82B2-016634EB3831}"/>
            </c:ext>
          </c:extLst>
        </c:ser>
        <c:ser>
          <c:idx val="3"/>
          <c:order val="3"/>
          <c:tx>
            <c:strRef>
              <c:f>Inertia!$AB$53</c:f>
              <c:strCache>
                <c:ptCount val="1"/>
                <c:pt idx="0">
                  <c:v>#2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Inertia!$AC$53:$AZ$53</c:f>
              <c:numCache>
                <c:formatCode>General</c:formatCode>
                <c:ptCount val="24"/>
                <c:pt idx="0">
                  <c:v>35400</c:v>
                </c:pt>
                <c:pt idx="1">
                  <c:v>35400</c:v>
                </c:pt>
                <c:pt idx="2">
                  <c:v>35400</c:v>
                </c:pt>
                <c:pt idx="3">
                  <c:v>35400</c:v>
                </c:pt>
                <c:pt idx="4">
                  <c:v>35400</c:v>
                </c:pt>
                <c:pt idx="5">
                  <c:v>35400</c:v>
                </c:pt>
                <c:pt idx="6">
                  <c:v>35400</c:v>
                </c:pt>
                <c:pt idx="7">
                  <c:v>35400</c:v>
                </c:pt>
                <c:pt idx="8">
                  <c:v>35400</c:v>
                </c:pt>
                <c:pt idx="9">
                  <c:v>35400</c:v>
                </c:pt>
                <c:pt idx="10">
                  <c:v>36180</c:v>
                </c:pt>
                <c:pt idx="11">
                  <c:v>36180</c:v>
                </c:pt>
                <c:pt idx="12">
                  <c:v>36180</c:v>
                </c:pt>
                <c:pt idx="13">
                  <c:v>36180</c:v>
                </c:pt>
                <c:pt idx="14">
                  <c:v>36180</c:v>
                </c:pt>
                <c:pt idx="15">
                  <c:v>36180</c:v>
                </c:pt>
                <c:pt idx="16">
                  <c:v>36180</c:v>
                </c:pt>
                <c:pt idx="17">
                  <c:v>36180</c:v>
                </c:pt>
                <c:pt idx="18">
                  <c:v>36828</c:v>
                </c:pt>
                <c:pt idx="19">
                  <c:v>36828</c:v>
                </c:pt>
                <c:pt idx="20">
                  <c:v>36180</c:v>
                </c:pt>
                <c:pt idx="21">
                  <c:v>36180</c:v>
                </c:pt>
                <c:pt idx="22">
                  <c:v>35400</c:v>
                </c:pt>
                <c:pt idx="23">
                  <c:v>35400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B53-4722-82B2-016634EB3831}"/>
            </c:ext>
          </c:extLst>
        </c:ser>
        <c:ser>
          <c:idx val="4"/>
          <c:order val="4"/>
          <c:tx>
            <c:strRef>
              <c:f>Inertia!$AB$54</c:f>
              <c:strCache>
                <c:ptCount val="1"/>
                <c:pt idx="0">
                  <c:v>#3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Inertia!$AC$54:$AZ$54</c:f>
              <c:numCache>
                <c:formatCode>General</c:formatCode>
                <c:ptCount val="24"/>
                <c:pt idx="0">
                  <c:v>35400</c:v>
                </c:pt>
                <c:pt idx="1">
                  <c:v>35400</c:v>
                </c:pt>
                <c:pt idx="2">
                  <c:v>35400</c:v>
                </c:pt>
                <c:pt idx="3">
                  <c:v>35400</c:v>
                </c:pt>
                <c:pt idx="4">
                  <c:v>35400</c:v>
                </c:pt>
                <c:pt idx="5">
                  <c:v>35400</c:v>
                </c:pt>
                <c:pt idx="6">
                  <c:v>35400</c:v>
                </c:pt>
                <c:pt idx="7">
                  <c:v>35400</c:v>
                </c:pt>
                <c:pt idx="8">
                  <c:v>35400</c:v>
                </c:pt>
                <c:pt idx="9">
                  <c:v>35400</c:v>
                </c:pt>
                <c:pt idx="10">
                  <c:v>35400</c:v>
                </c:pt>
                <c:pt idx="11">
                  <c:v>35400</c:v>
                </c:pt>
                <c:pt idx="12">
                  <c:v>35400</c:v>
                </c:pt>
                <c:pt idx="13">
                  <c:v>35400</c:v>
                </c:pt>
                <c:pt idx="14">
                  <c:v>36048</c:v>
                </c:pt>
                <c:pt idx="15">
                  <c:v>36048</c:v>
                </c:pt>
                <c:pt idx="16">
                  <c:v>35400</c:v>
                </c:pt>
                <c:pt idx="17">
                  <c:v>35400</c:v>
                </c:pt>
                <c:pt idx="18">
                  <c:v>35400</c:v>
                </c:pt>
                <c:pt idx="19">
                  <c:v>35400</c:v>
                </c:pt>
                <c:pt idx="20">
                  <c:v>35400</c:v>
                </c:pt>
                <c:pt idx="21">
                  <c:v>35400</c:v>
                </c:pt>
                <c:pt idx="22">
                  <c:v>35400</c:v>
                </c:pt>
                <c:pt idx="23">
                  <c:v>35400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B53-4722-82B2-016634EB3831}"/>
            </c:ext>
          </c:extLst>
        </c:ser>
        <c:ser>
          <c:idx val="5"/>
          <c:order val="5"/>
          <c:tx>
            <c:strRef>
              <c:f>Inertia!$AB$55</c:f>
              <c:strCache>
                <c:ptCount val="1"/>
                <c:pt idx="0">
                  <c:v>#4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Inertia!$AC$55:$AZ$55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B53-4722-82B2-016634EB3831}"/>
            </c:ext>
          </c:extLst>
        </c:ser>
        <c:ser>
          <c:idx val="6"/>
          <c:order val="6"/>
          <c:tx>
            <c:strRef>
              <c:f>Inertia!$AB$56</c:f>
              <c:strCache>
                <c:ptCount val="1"/>
                <c:pt idx="0">
                  <c:v>#5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Inertia!$AC$56:$AZ$56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AB53-4722-82B2-016634EB3831}"/>
            </c:ext>
          </c:extLst>
        </c:ser>
        <c:ser>
          <c:idx val="7"/>
          <c:order val="7"/>
          <c:tx>
            <c:strRef>
              <c:f>Inertia!$AB$57</c:f>
              <c:strCache>
                <c:ptCount val="1"/>
                <c:pt idx="0">
                  <c:v>#6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Inertia!$AC$57:$AZ$57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AB53-4722-82B2-016634EB3831}"/>
            </c:ext>
          </c:extLst>
        </c:ser>
        <c:ser>
          <c:idx val="8"/>
          <c:order val="8"/>
          <c:tx>
            <c:strRef>
              <c:f>Inertia!$AB$58</c:f>
              <c:strCache>
                <c:ptCount val="1"/>
                <c:pt idx="0">
                  <c:v>#7</c:v>
                </c:pt>
              </c:strCache>
            </c:strRef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Inertia!$AC$58:$AZ$58</c:f>
              <c:numCache>
                <c:formatCode>General</c:formatCode>
                <c:ptCount val="24"/>
                <c:pt idx="0">
                  <c:v>49951.692661365079</c:v>
                </c:pt>
                <c:pt idx="1">
                  <c:v>43090</c:v>
                </c:pt>
                <c:pt idx="2">
                  <c:v>43090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42790</c:v>
                </c:pt>
                <c:pt idx="9">
                  <c:v>43090</c:v>
                </c:pt>
                <c:pt idx="10">
                  <c:v>43090</c:v>
                </c:pt>
                <c:pt idx="11">
                  <c:v>42965</c:v>
                </c:pt>
                <c:pt idx="12">
                  <c:v>42790</c:v>
                </c:pt>
                <c:pt idx="13">
                  <c:v>43090</c:v>
                </c:pt>
                <c:pt idx="14">
                  <c:v>43090</c:v>
                </c:pt>
                <c:pt idx="15">
                  <c:v>43090</c:v>
                </c:pt>
                <c:pt idx="16">
                  <c:v>43090</c:v>
                </c:pt>
                <c:pt idx="17">
                  <c:v>43090</c:v>
                </c:pt>
                <c:pt idx="18">
                  <c:v>43090</c:v>
                </c:pt>
                <c:pt idx="19">
                  <c:v>43090</c:v>
                </c:pt>
                <c:pt idx="20">
                  <c:v>42790</c:v>
                </c:pt>
                <c:pt idx="21">
                  <c:v>42990</c:v>
                </c:pt>
                <c:pt idx="22">
                  <c:v>42990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AB53-4722-82B2-016634EB38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6293792"/>
        <c:axId val="896290432"/>
      </c:scatterChart>
      <c:valAx>
        <c:axId val="896293792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290432"/>
        <c:crosses val="autoZero"/>
        <c:crossBetween val="midCat"/>
      </c:valAx>
      <c:valAx>
        <c:axId val="896290432"/>
        <c:scaling>
          <c:orientation val="minMax"/>
          <c:max val="50000"/>
          <c:min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2937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Kontribusi Virtual Inersia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Inertia!$A$58</c:f>
              <c:strCache>
                <c:ptCount val="1"/>
                <c:pt idx="0">
                  <c:v>Thermal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Inertia!$B$58:$Y$58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E-44F0-96F1-9729B3E37A0B}"/>
            </c:ext>
          </c:extLst>
        </c:ser>
        <c:ser>
          <c:idx val="3"/>
          <c:order val="1"/>
          <c:tx>
            <c:strRef>
              <c:f>Inertia!$A$59</c:f>
              <c:strCache>
                <c:ptCount val="1"/>
                <c:pt idx="0">
                  <c:v>Battery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Inertia!$B$59:$Y$59</c:f>
              <c:numCache>
                <c:formatCode>General</c:formatCode>
                <c:ptCount val="24"/>
                <c:pt idx="0">
                  <c:v>0</c:v>
                </c:pt>
                <c:pt idx="1">
                  <c:v>400</c:v>
                </c:pt>
                <c:pt idx="2">
                  <c:v>400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100</c:v>
                </c:pt>
                <c:pt idx="9">
                  <c:v>400</c:v>
                </c:pt>
                <c:pt idx="10">
                  <c:v>400</c:v>
                </c:pt>
                <c:pt idx="11">
                  <c:v>275.00000000000011</c:v>
                </c:pt>
                <c:pt idx="12">
                  <c:v>100</c:v>
                </c:pt>
                <c:pt idx="13">
                  <c:v>400</c:v>
                </c:pt>
                <c:pt idx="14">
                  <c:v>400</c:v>
                </c:pt>
                <c:pt idx="15">
                  <c:v>400.00000000000011</c:v>
                </c:pt>
                <c:pt idx="16">
                  <c:v>400.00000000000011</c:v>
                </c:pt>
                <c:pt idx="17">
                  <c:v>400.00000000000011</c:v>
                </c:pt>
                <c:pt idx="18">
                  <c:v>400.00000000000011</c:v>
                </c:pt>
                <c:pt idx="19">
                  <c:v>400.00000000000011</c:v>
                </c:pt>
                <c:pt idx="20">
                  <c:v>100</c:v>
                </c:pt>
                <c:pt idx="21">
                  <c:v>300</c:v>
                </c:pt>
                <c:pt idx="22">
                  <c:v>300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E-44F0-96F1-9729B3E37A0B}"/>
            </c:ext>
          </c:extLst>
        </c:ser>
        <c:ser>
          <c:idx val="4"/>
          <c:order val="2"/>
          <c:tx>
            <c:strRef>
              <c:f>Inertia!$A$60</c:f>
              <c:strCache>
                <c:ptCount val="1"/>
                <c:pt idx="0">
                  <c:v>WT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Inertia!$B$60:$Y$60</c:f>
              <c:numCache>
                <c:formatCode>General</c:formatCode>
                <c:ptCount val="24"/>
                <c:pt idx="0">
                  <c:v>304.69266136507667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8E-44F0-96F1-9729B3E37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16793328"/>
        <c:axId val="816789968"/>
      </c:barChart>
      <c:catAx>
        <c:axId val="816793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789968"/>
        <c:crosses val="autoZero"/>
        <c:auto val="1"/>
        <c:lblAlgn val="ctr"/>
        <c:lblOffset val="100"/>
        <c:noMultiLvlLbl val="0"/>
      </c:catAx>
      <c:valAx>
        <c:axId val="81678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793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A952-36F0-450B-A6A9-C37DA8FFF1D4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D954F-A38D-463E-BBC0-DD01506C9C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33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4D10-BBE9-D441-EA20-5548CF9FA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F9DC3-F844-87E7-9081-E574EC047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1EE9-C1E0-E994-DE92-378E4BD2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6111-780E-39BC-EF4E-0391319E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878C-0904-C154-3929-8F022242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45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A757-F438-12D8-8C08-C5AE8C22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9AE2-89C0-7CDE-4B0B-59E5100F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C9A7-4614-AB68-FC87-0A1E9C8E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3BB2F-51DC-83AB-7338-91F2D86E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FACB-63DD-9228-5DC6-1DF9C0BD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4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7F7B-F20F-663A-2BC4-AE7E9F1D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519B-E52D-28FC-1378-C613E5D50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48E21-2E2E-AAD2-8264-FCCE7087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D38C-1A6D-9014-63C8-8BC2D411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C77B-7377-D457-BAD7-6B3B0794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608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21D8-64D7-D420-5D95-976EEC03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AFD9-F0B5-27EE-46E1-E2FF2F42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1EB3A-1FAD-C0CD-8C63-5AF16B515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8DEAF-BD67-0C26-2E71-EAD5214A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DF105-452D-0147-8988-116487FC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0E7FE-42AE-0FBC-9E49-2111CFCB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144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5AE3-3DAA-C504-1848-1E5B4EF7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2C255-4EDE-5031-1706-F70DE3F3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1A749-F023-0DB9-868C-D4E03E46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CE993-FD37-73DE-60CB-392AE248E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59581-88D1-018B-2EC9-BC81C6D82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8E193-FFE5-5536-F583-46C0581A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DCFA8-7E2D-A53A-E349-3923B6C6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73902-981E-B560-64C2-A353D5FC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176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FF02-8121-D13C-4479-C0DE5379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932C5-1F31-C718-1C51-4616F260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00D1D-0AC1-E5D9-7985-AFC1B25D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A4ED-1444-5EAE-D664-859011ED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106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7C629-374D-B05E-0CC5-AFDE3BB0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E69B4-E1F7-AC94-6C8D-7CF3AD53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468A1-B1E7-F6C4-D747-1043B4D5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438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2115-7400-1418-F00F-A4D180B1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F2E35-86C7-D259-A292-6A85B5EA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C151E-BEE1-BAEE-2758-3466E12CE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67839-FF20-F7BC-4413-F4A62F6C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6699-8B6C-5128-7602-07C37C6B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3CB-E759-B72D-D162-77ACDDBD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61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1239-E983-97FA-E54F-F46012F5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01239-906B-C18F-AE40-EF753F997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CBD4D-2012-D0C7-403A-4248C128D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A8A2-8794-29CA-B811-B2910EA7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BB48-54F1-8E4A-2166-B0BCE8F6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6F565-E7D0-6DB3-9AF4-2294D7F8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354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978A-4CEE-B5D6-03C8-85E6B550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887B9-958F-6EC4-B6D5-E96E77D9B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74D00-BAA5-55F3-1971-67C109EC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03FB-0877-06F8-C654-EAAB2F78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A1C-2298-8F6B-D3A2-445B1F7B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983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FA9504-D966-FC02-A94A-CFF295816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C109-14C1-647A-A184-DAFA7E720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DADB-C4D3-C1AB-F20B-361B7104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5ECD-8962-187A-A8C6-7181BC35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0EED5-BE3D-ED17-AE93-89DFABFD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37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863A0-4F6D-6662-4604-96D2E79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21BF7-17C9-15CB-9A52-623C8EB3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E74F-7F5C-8EAB-4210-19B501846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330B3-0D02-44DC-877D-A1E10694BC01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A386C-31B1-D16D-3CBD-7F665B6CD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C9336-DFC1-D3B1-3CCE-630A5F422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484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8DE-A335-15BC-FACC-6F72EEDF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A8D6E-64BC-A136-1535-E5E75801BF97}"/>
              </a:ext>
            </a:extLst>
          </p:cNvPr>
          <p:cNvSpPr txBox="1"/>
          <p:nvPr/>
        </p:nvSpPr>
        <p:spPr>
          <a:xfrm>
            <a:off x="3787515" y="778938"/>
            <a:ext cx="4616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/>
              <a:t>Simulasi</a:t>
            </a:r>
            <a:r>
              <a:rPr lang="en-US" sz="2800" b="1" dirty="0"/>
              <a:t> Unit Commitment</a:t>
            </a:r>
            <a:endParaRPr lang="en-US" sz="20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5807AE-CCD4-3B9E-020B-8A16544F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F965A-C23A-FBE5-6EA4-86A39333626B}"/>
              </a:ext>
            </a:extLst>
          </p:cNvPr>
          <p:cNvSpPr txBox="1"/>
          <p:nvPr/>
        </p:nvSpPr>
        <p:spPr>
          <a:xfrm>
            <a:off x="4656343" y="3333674"/>
            <a:ext cx="2879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Oleh:</a:t>
            </a:r>
          </a:p>
          <a:p>
            <a:pPr algn="ctr"/>
            <a:r>
              <a:rPr lang="en-US" dirty="0"/>
              <a:t>Muhammad Aris Risnandar</a:t>
            </a:r>
          </a:p>
          <a:p>
            <a:pPr algn="ctr"/>
            <a:r>
              <a:rPr lang="en-US" dirty="0"/>
              <a:t>NIM: 25/571656/STK/01375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1A925-5446-DCBB-F981-5A485B81D1F9}"/>
              </a:ext>
            </a:extLst>
          </p:cNvPr>
          <p:cNvSpPr txBox="1"/>
          <p:nvPr/>
        </p:nvSpPr>
        <p:spPr>
          <a:xfrm>
            <a:off x="1821432" y="4553883"/>
            <a:ext cx="85491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Program Studi </a:t>
            </a:r>
            <a:r>
              <a:rPr lang="en-US" sz="2800" b="1" dirty="0" err="1"/>
              <a:t>Doktor</a:t>
            </a:r>
            <a:r>
              <a:rPr lang="en-US" sz="2800" b="1" dirty="0"/>
              <a:t> Teknik Elektro</a:t>
            </a:r>
          </a:p>
          <a:p>
            <a:pPr algn="ctr"/>
            <a:r>
              <a:rPr lang="en-US" sz="2800" b="1" dirty="0" err="1"/>
              <a:t>Departemen</a:t>
            </a:r>
            <a:r>
              <a:rPr lang="en-US" sz="2800" b="1" dirty="0"/>
              <a:t> Teknik Elektro dan </a:t>
            </a:r>
            <a:r>
              <a:rPr lang="en-US" sz="2800" b="1" dirty="0" err="1"/>
              <a:t>Teknologi</a:t>
            </a:r>
            <a:r>
              <a:rPr lang="en-US" sz="2800" b="1" dirty="0"/>
              <a:t> </a:t>
            </a:r>
            <a:r>
              <a:rPr lang="en-US" sz="2800" b="1" dirty="0" err="1"/>
              <a:t>Informasi</a:t>
            </a:r>
            <a:endParaRPr lang="en-US" sz="2800" b="1" dirty="0"/>
          </a:p>
          <a:p>
            <a:pPr algn="ctr"/>
            <a:r>
              <a:rPr lang="en-US" sz="2800" b="1" dirty="0"/>
              <a:t>Universitas Gadjah Mada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15 Juni 2026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1224D4-31BC-3168-F399-A94C0A1F3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3" y="1435432"/>
            <a:ext cx="1693334" cy="17649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1F3DC9-8E90-A575-5137-7942F318A2E0}"/>
              </a:ext>
            </a:extLst>
          </p:cNvPr>
          <p:cNvSpPr txBox="1"/>
          <p:nvPr/>
        </p:nvSpPr>
        <p:spPr>
          <a:xfrm>
            <a:off x="5070847" y="356933"/>
            <a:ext cx="2050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Progress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04069-8A10-373F-3ACE-4E9EFB2670BA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F9BD2-C9E5-5AFE-F32C-C7C399EBB65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29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EEC1-61AB-1B21-BCDB-E1886C84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F8A454-2EFD-E398-2299-20A1AF0A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810E4-67EB-AB5B-CA4C-3FDC3BA3D6D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Objektif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(Minimum Total Cost)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73AEA5-974E-F6BC-D44A-AA7F96B42426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4435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Fungsi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Objektif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D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terhadap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start-up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tetap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rentang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73AEA5-974E-F6BC-D44A-AA7F96B42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4435125"/>
              </a:xfrm>
              <a:prstGeom prst="rect">
                <a:avLst/>
              </a:prstGeom>
              <a:blipFill>
                <a:blip r:embed="rId2"/>
                <a:stretch>
                  <a:fillRect l="-300" t="-413" b="-9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1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1918-CF5F-FB7D-D10D-6CD41409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C31E8E-DF4C-6814-3AD1-74760186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</a:t>
            </a:fld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76D05-2B24-EC6C-D37A-D249B429EF42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6AF30-A834-4E53-054D-4B1CF8B7FA6C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63922A-4AB8-2ACE-B8BB-0591A9113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23480"/>
              </p:ext>
            </p:extLst>
          </p:nvPr>
        </p:nvGraphicFramePr>
        <p:xfrm>
          <a:off x="83691" y="365125"/>
          <a:ext cx="12019409" cy="56846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3776">
                  <a:extLst>
                    <a:ext uri="{9D8B030D-6E8A-4147-A177-3AD203B41FA5}">
                      <a16:colId xmlns:a16="http://schemas.microsoft.com/office/drawing/2014/main" val="2422838846"/>
                    </a:ext>
                  </a:extLst>
                </a:gridCol>
                <a:gridCol w="6824133">
                  <a:extLst>
                    <a:ext uri="{9D8B030D-6E8A-4147-A177-3AD203B41FA5}">
                      <a16:colId xmlns:a16="http://schemas.microsoft.com/office/drawing/2014/main" val="1481607946"/>
                    </a:ext>
                  </a:extLst>
                </a:gridCol>
                <a:gridCol w="440267">
                  <a:extLst>
                    <a:ext uri="{9D8B030D-6E8A-4147-A177-3AD203B41FA5}">
                      <a16:colId xmlns:a16="http://schemas.microsoft.com/office/drawing/2014/main" val="3306901838"/>
                    </a:ext>
                  </a:extLst>
                </a:gridCol>
                <a:gridCol w="461433">
                  <a:extLst>
                    <a:ext uri="{9D8B030D-6E8A-4147-A177-3AD203B41FA5}">
                      <a16:colId xmlns:a16="http://schemas.microsoft.com/office/drawing/2014/main" val="287754280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749882048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80935026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16886490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730036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37483397"/>
                    </a:ext>
                  </a:extLst>
                </a:gridCol>
              </a:tblGrid>
              <a:tr h="18516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>
                          <a:latin typeface="+mn-lt"/>
                        </a:rPr>
                        <a:t>Constraint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>
                          <a:latin typeface="+mn-lt"/>
                        </a:rPr>
                        <a:t>Fungsi</a:t>
                      </a:r>
                      <a:r>
                        <a:rPr lang="en-ID" sz="1200" b="1" dirty="0">
                          <a:latin typeface="+mn-lt"/>
                        </a:rPr>
                        <a:t> </a:t>
                      </a:r>
                      <a:r>
                        <a:rPr lang="en-ID" sz="1200" b="1" dirty="0" err="1">
                          <a:latin typeface="+mn-lt"/>
                        </a:rPr>
                        <a:t>dalam</a:t>
                      </a:r>
                      <a:r>
                        <a:rPr lang="en-ID" sz="1200" b="1" dirty="0">
                          <a:latin typeface="+mn-lt"/>
                        </a:rPr>
                        <a:t> </a:t>
                      </a:r>
                      <a:r>
                        <a:rPr lang="en-ID" sz="1200" b="1" dirty="0" err="1">
                          <a:latin typeface="+mn-lt"/>
                        </a:rPr>
                        <a:t>Simulasi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latin typeface="+mn-lt"/>
                          <a:cs typeface="Arial" panose="020B0604020202020204" pitchFamily="34" charset="0"/>
                        </a:rPr>
                        <a:t>Simulasi</a:t>
                      </a: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dirty="0" err="1">
                          <a:latin typeface="+mn-lt"/>
                          <a:cs typeface="Arial" panose="020B0604020202020204" pitchFamily="34" charset="0"/>
                        </a:rPr>
                        <a:t>ke</a:t>
                      </a: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 (#)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218276"/>
                  </a:ext>
                </a:extLst>
              </a:tr>
              <a:tr h="18516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76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use_initial_condition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Menetapkan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kondisi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awal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sistem</a:t>
                      </a:r>
                      <a:r>
                        <a:rPr lang="en-ID" sz="1200" dirty="0">
                          <a:latin typeface="+mn-lt"/>
                        </a:rPr>
                        <a:t> (status ON/OFF, output </a:t>
                      </a:r>
                      <a:r>
                        <a:rPr lang="en-ID" sz="1200" dirty="0" err="1">
                          <a:latin typeface="+mn-lt"/>
                        </a:rPr>
                        <a:t>daya</a:t>
                      </a:r>
                      <a:r>
                        <a:rPr lang="en-ID" sz="1200" dirty="0">
                          <a:latin typeface="+mn-lt"/>
                        </a:rPr>
                        <a:t>, dan </a:t>
                      </a:r>
                      <a:r>
                        <a:rPr lang="en-ID" sz="1200" dirty="0" err="1">
                          <a:latin typeface="+mn-lt"/>
                        </a:rPr>
                        <a:t>riwayat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unit) </a:t>
                      </a:r>
                      <a:r>
                        <a:rPr lang="en-ID" sz="1200" dirty="0" err="1">
                          <a:latin typeface="+mn-lt"/>
                        </a:rPr>
                        <a:t>sebagai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titik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awal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optimasi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1383542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con_startup_shutdown_logic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Menentukan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hubungan</a:t>
                      </a:r>
                      <a:r>
                        <a:rPr lang="en-ID" sz="1200" dirty="0">
                          <a:latin typeface="+mn-lt"/>
                        </a:rPr>
                        <a:t> status ON/OFF </a:t>
                      </a:r>
                      <a:r>
                        <a:rPr lang="en-ID" sz="1200" dirty="0" err="1">
                          <a:latin typeface="+mn-lt"/>
                        </a:rPr>
                        <a:t>dengan</a:t>
                      </a:r>
                      <a:r>
                        <a:rPr lang="en-ID" sz="1200" dirty="0">
                          <a:latin typeface="+mn-lt"/>
                        </a:rPr>
                        <a:t> proses startup dan shutdown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99081094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con_power_balance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Menjamin</a:t>
                      </a:r>
                      <a:r>
                        <a:rPr lang="en-ID" sz="1200" dirty="0">
                          <a:latin typeface="+mn-lt"/>
                        </a:rPr>
                        <a:t> total </a:t>
                      </a:r>
                      <a:r>
                        <a:rPr lang="en-ID" sz="1200" dirty="0" err="1">
                          <a:latin typeface="+mn-lt"/>
                        </a:rPr>
                        <a:t>daya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pembangkit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kebutuhan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beban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setiap</a:t>
                      </a:r>
                      <a:r>
                        <a:rPr lang="en-ID" sz="1200" dirty="0">
                          <a:latin typeface="+mn-lt"/>
                        </a:rPr>
                        <a:t> interval </a:t>
                      </a:r>
                      <a:r>
                        <a:rPr lang="en-ID" sz="1200" dirty="0" err="1">
                          <a:latin typeface="+mn-lt"/>
                        </a:rPr>
                        <a:t>waktu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94143427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con_capacity_upper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output generator tidak melebihi kapasitas maksimum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20649632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con_capacity_lower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Menjamin</a:t>
                      </a:r>
                      <a:r>
                        <a:rPr lang="en-ID" sz="1200" dirty="0">
                          <a:latin typeface="+mn-lt"/>
                        </a:rPr>
                        <a:t> generator yang </a:t>
                      </a:r>
                      <a:r>
                        <a:rPr lang="en-ID" sz="1200" dirty="0" err="1">
                          <a:latin typeface="+mn-lt"/>
                        </a:rPr>
                        <a:t>beroperasi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batas minimum </a:t>
                      </a:r>
                      <a:r>
                        <a:rPr lang="en-ID" sz="1200" dirty="0" err="1">
                          <a:latin typeface="+mn-lt"/>
                        </a:rPr>
                        <a:t>teknis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317612294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con_minimum_up_time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Mencegah</a:t>
                      </a:r>
                      <a:r>
                        <a:rPr lang="en-ID" sz="1200" dirty="0">
                          <a:latin typeface="+mn-lt"/>
                        </a:rPr>
                        <a:t> generator </a:t>
                      </a:r>
                      <a:r>
                        <a:rPr lang="en-ID" sz="1200" dirty="0" err="1">
                          <a:latin typeface="+mn-lt"/>
                        </a:rPr>
                        <a:t>dimatikan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sebelum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waktu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minimum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72326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con_minimum_down_time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Mencegah generator dinyalakan kembali sebelum memenuhi waktu padam minimum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08987272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con_ramp_up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kenaikan output generator antar interval waktu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536030529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con_ramp_down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penurunan output generator antar interval waktu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23340197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con_n1_spinning_reserve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Menjamin reserve cukup untuk mengantisipasi kehilangan pembangkit terbesar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6455919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con_battery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Membatasi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charge-discharge dan State of Charge (SOC) </a:t>
                      </a:r>
                      <a:r>
                        <a:rPr lang="en-ID" sz="1200" dirty="0" err="1">
                          <a:latin typeface="+mn-lt"/>
                        </a:rPr>
                        <a:t>baterai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9474867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con_wt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Membatasi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ketersediaan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dan curtailment PLTB.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2681101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con_min_inertia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Membatasi</a:t>
                      </a:r>
                      <a:r>
                        <a:rPr lang="en-ID" sz="1200" dirty="0">
                          <a:latin typeface="+mn-lt"/>
                        </a:rPr>
                        <a:t> minimum </a:t>
                      </a:r>
                      <a:r>
                        <a:rPr lang="en-ID" sz="1200" dirty="0" err="1">
                          <a:latin typeface="+mn-lt"/>
                        </a:rPr>
                        <a:t>inersia</a:t>
                      </a:r>
                      <a:r>
                        <a:rPr lang="en-ID" sz="1200" dirty="0">
                          <a:latin typeface="+mn-lt"/>
                        </a:rPr>
                        <a:t> system </a:t>
                      </a:r>
                      <a:r>
                        <a:rPr lang="en-ID" sz="1200" dirty="0" err="1">
                          <a:latin typeface="+mn-lt"/>
                        </a:rPr>
                        <a:t>berdasarkan</a:t>
                      </a:r>
                      <a:r>
                        <a:rPr lang="en-ID" sz="1200" dirty="0">
                          <a:latin typeface="+mn-lt"/>
                        </a:rPr>
                        <a:t> Batasan </a:t>
                      </a:r>
                      <a:r>
                        <a:rPr lang="en-ID" sz="1200" dirty="0" err="1">
                          <a:latin typeface="+mn-lt"/>
                        </a:rPr>
                        <a:t>RoCoF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7497198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con_battery_vi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Menambahkan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kontribusi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virtual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baterai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8867241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con_wt_vi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Menambahkan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kontribusi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virtual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PLTB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093538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5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EF7D-8E04-A611-F345-F5D0F436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49C491-6BF3-BA2C-5A94-71FE388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4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AFD2E-8D60-A64A-DA7A-BB5BBA2414E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271417-F7AE-0928-F98D-3B45F616EB99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𝑐h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𝑎𝑣𝑎𝑖𝑙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𝑐𝑢𝑟𝑡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kebutuhan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beban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B08173-C45D-A23F-3965-147301D3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blipFill>
                <a:blip r:embed="rId2"/>
                <a:stretch>
                  <a:fillRect l="-300" t="-529" b="-7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73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A5FC-2AD7-0EDB-044A-66A52011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CCFA04-8636-F5F9-A09B-4B5BAD97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5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40290-1AD0-E97D-496E-88EF5EBE417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1CC9AE-9578-B859-C814-A9935D6827EF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Limit:</a:t>
                </a:r>
              </a:p>
              <a:p>
                <a:pPr algn="just"/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Thermal: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Wind: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0F4A9-4277-1839-EB8D-0CBBC3A1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blipFill>
                <a:blip r:embed="rId2"/>
                <a:stretch>
                  <a:fillRect l="-905" t="-5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ED2C49-40EE-FC4E-3102-10D0D2CEDF39}"/>
                  </a:ext>
                </a:extLst>
              </p:cNvPr>
              <p:cNvSpPr txBox="1"/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beter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74774-1261-D290-8C60-1D518B500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blipFill>
                <a:blip r:embed="rId3"/>
                <a:stretch>
                  <a:fillRect l="-444" t="-558" b="-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6E3D65-E904-7E91-7BBE-A109AEB7EE8F}"/>
                  </a:ext>
                </a:extLst>
              </p:cNvPr>
              <p:cNvSpPr txBox="1"/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Ramp Up/Down: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044199-AA5A-812B-B453-9049B19E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00" b="-1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3E96A1-8399-32C2-90DD-E700372F5B51}"/>
                  </a:ext>
                </a:extLst>
              </p:cNvPr>
              <p:cNvSpPr txBox="1"/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penurunan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kenaikan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26EE8C-9E28-36B2-C0D5-BF9182361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blipFill>
                <a:blip r:embed="rId5"/>
                <a:stretch>
                  <a:fillRect l="-444" t="-1604" b="-3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38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D1BE-C34C-52F6-1185-5518A65E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199EA9-5EB0-EE28-1263-F5C148EB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6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B5614-959D-EA8E-08AF-801DB7BE548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01202E-451D-F795-04D5-0F7973465377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Minimum Up/Down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𝑜𝑤𝑛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B2E282-B6B0-BF05-62DE-6E8F25386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blipFill>
                <a:blip r:embed="rId2"/>
                <a:stretch>
                  <a:fillRect l="-905" t="-7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6988EB-DCA3-52BF-6B9C-386ED54BDD3F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i="0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𝑑𝑜𝑤𝑛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henti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pembangkit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BC2D16-AB5A-FF80-F7BD-EF028674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blipFill>
                <a:blip r:embed="rId3"/>
                <a:stretch>
                  <a:fillRect l="-406" t="-737" b="-24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B46599-B145-90BF-3FF7-D1A028E58D23}"/>
                  </a:ext>
                </a:extLst>
              </p:cNvPr>
              <p:cNvSpPr txBox="1"/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Spinning Reserve: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8FF00-49F8-B823-CDD2-0DDBB6270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30" b="-10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FF8E36-756B-1B8C-1E89-6A1EF49B9F01}"/>
                  </a:ext>
                </a:extLst>
              </p:cNvPr>
              <p:cNvSpPr txBox="1"/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0EB966-F9E8-D20D-68E2-DC41DF0F0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blipFill>
                <a:blip r:embed="rId5"/>
                <a:stretch>
                  <a:fillRect l="-406" t="-1613" b="-43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482D95-56F1-E320-8007-306FF5228BCF}"/>
                  </a:ext>
                </a:extLst>
              </p:cNvPr>
              <p:cNvSpPr txBox="1"/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Kontingensi (N-1)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A9BDDD-34FB-8664-AAAD-3225EFB1B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blipFill>
                <a:blip r:embed="rId6"/>
                <a:stretch>
                  <a:fillRect l="-905" t="-137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59D011-F78D-1F99-5E0D-E2115D116465}"/>
                  </a:ext>
                </a:extLst>
              </p:cNvPr>
              <p:cNvSpPr txBox="1"/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hilang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akibat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FAFEC-E094-1997-03D9-8D3DF9CE5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blipFill>
                <a:blip r:embed="rId7"/>
                <a:stretch>
                  <a:fillRect l="-406" t="-1322" b="-5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22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3D9F-D9F8-7C86-46C2-667F2E29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09E8CD-3B5A-F3E3-1C0A-F414B4BE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7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9906B-2183-BBFD-B8C1-99B5E6A0F18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9A7C68-0101-65B9-6446-E36A629A5529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Bettery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𝑖𝑛𝑖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𝑓𝑖𝑛𝑎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=24</m:t>
                      </m:r>
                    </m:oMath>
                  </m:oMathPara>
                </a14:m>
                <a:endParaRPr lang="en-US" sz="1600" i="1" dirty="0"/>
              </a:p>
              <a:p>
                <a:pPr algn="just"/>
                <a:endParaRPr lang="en-US" sz="160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F17267-146A-6C3F-9621-4E472CB06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blipFill>
                <a:blip r:embed="rId2"/>
                <a:stretch>
                  <a:fillRect l="-779" t="-4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004F0E-E668-1818-38F4-CBD326613AB3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𝑖𝑛𝑖𝑡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awal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(t=0)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𝑓𝑖𝑛𝑎𝑙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akhir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(t=24)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90600" algn="l"/>
                    <a:tab pos="12573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C4F93-235D-B8DF-755A-78B451BA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blipFill>
                <a:blip r:embed="rId3"/>
                <a:stretch>
                  <a:fillRect l="-406" t="-55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8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AD803-4822-3D80-82AA-D8D46C8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703FE-F902-6807-A5A5-D372B916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8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AF908C-7480-1C3D-4DBC-399C1D46DBB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Constraint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80A00D-CB9A-91E0-D7E3-FF062514E7E6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Wind Turbine: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𝑢𝑠𝑒𝑑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F77F8-80D0-DFCD-BA29-5CFA8CC27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blipFill>
                <a:blip r:embed="rId2"/>
                <a:stretch>
                  <a:fillRect l="-779" t="-109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E48258-5B0F-D12A-29F0-FA4F40E42C17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𝑢𝑠𝑒𝑑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diinjeksikan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35C60-FB98-822F-922E-FEE817E0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blipFill>
                <a:blip r:embed="rId3"/>
                <a:stretch>
                  <a:fillRect l="-406" t="-8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92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4FEAF-78E4-17CB-671F-87FDA747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B58083-71A8-F268-2928-CE8EF3FD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9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4065B-D929-7E72-9DEA-65EC5743CA7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Constraint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81A235-354E-E8DE-F45E-1904025342BB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Inertia</a:t>
                </a: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Non Virtual Inertia: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 + Wind Turbine):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5D5F45-4371-CFA9-C550-E8B636FD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blipFill>
                <a:blip r:embed="rId2"/>
                <a:stretch>
                  <a:fillRect l="-679" t="-3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BD1F5-B8FC-4FBF-F803-9302515E7586}"/>
                  </a:ext>
                </a:extLst>
              </p:cNvPr>
              <p:cNvSpPr txBox="1"/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𝑠𝑦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system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virtual inertia constant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i="0" dirty="0">
                    <a:latin typeface="+mj-lt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alokasi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saat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virtual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[0-1]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	=	virtual inertia constant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inertia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dialokasikan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curtailment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𝑙𝑜𝑠𝑠</m:t>
                        </m:r>
                      </m:sup>
                    </m:s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terbesar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292401-EBD3-DB97-58CE-100E225C7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blipFill>
                <a:blip r:embed="rId3"/>
                <a:stretch>
                  <a:fillRect l="-396" t="-515" r="-396" b="-8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88E9AC-B53E-8CD9-68F2-999D58D1E7A6}"/>
                  </a:ext>
                </a:extLst>
              </p:cNvPr>
              <p:cNvSpPr txBox="1"/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Batasan Inertia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𝑅𝑜𝐶𝑜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</m:eqAr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88E9AC-B53E-8CD9-68F2-999D58D1E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blipFill>
                <a:blip r:embed="rId4"/>
                <a:stretch>
                  <a:fillRect l="-679" t="-1463" b="-14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2C8CF3-5A0E-EF75-1586-2CADB54358A2}"/>
              </a:ext>
            </a:extLst>
          </p:cNvPr>
          <p:cNvCxnSpPr/>
          <p:nvPr/>
        </p:nvCxnSpPr>
        <p:spPr>
          <a:xfrm>
            <a:off x="4453465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34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0D82-DC1E-9EFE-699E-3E10337B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1587F2-A130-FDF0-3C96-B61B63205BCC}"/>
              </a:ext>
            </a:extLst>
          </p:cNvPr>
          <p:cNvGraphicFramePr>
            <a:graphicFrameLocks/>
          </p:cNvGraphicFramePr>
          <p:nvPr/>
        </p:nvGraphicFramePr>
        <p:xfrm>
          <a:off x="6759389" y="3045875"/>
          <a:ext cx="4876800" cy="2957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AF25A1-128A-EFDC-B787-A3CC2950DF7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EEB487-A761-B33F-EA07-DB22AD91F069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586510"/>
          <a:ext cx="11734797" cy="237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966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279133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897467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1202266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9390135"/>
                    </a:ext>
                  </a:extLst>
                </a:gridCol>
                <a:gridCol w="1456262">
                  <a:extLst>
                    <a:ext uri="{9D8B030D-6E8A-4147-A177-3AD203B41FA5}">
                      <a16:colId xmlns:a16="http://schemas.microsoft.com/office/drawing/2014/main" val="7889796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Pmin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($/MW)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($/h)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 ($)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Ramp (MW/h)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Power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3594.9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3825.1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48450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1662.9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1291.2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2812.5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2790.0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3913.4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3096.0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F9CE40-3373-F440-211D-9EAD86662FA1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3082153"/>
          <a:ext cx="6062135" cy="2532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068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Governor Ramp (MW/s)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 Dead Band (Hz)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129.8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31.654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24.892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33.663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28.42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27.636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102.07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122.72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158C3C-9EBD-367F-4B87-D6BBD6C72167}"/>
              </a:ext>
            </a:extLst>
          </p:cNvPr>
          <p:cNvSpPr txBox="1"/>
          <p:nvPr/>
        </p:nvSpPr>
        <p:spPr>
          <a:xfrm>
            <a:off x="0" y="323166"/>
            <a:ext cx="431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Frequency Nominal = 50 Hz |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RoCoF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= 0,55 Hz/s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CE0AD-F7DF-03B1-FE3A-8DB6EB091BF2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5920305"/>
          <a:ext cx="7987553" cy="804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29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758184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959224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111623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99508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923365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986117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Min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Max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6E80A1-DEEC-21F3-843A-6737675CDA0D}"/>
              </a:ext>
            </a:extLst>
          </p:cNvPr>
          <p:cNvSpPr txBox="1"/>
          <p:nvPr/>
        </p:nvSpPr>
        <p:spPr>
          <a:xfrm>
            <a:off x="8259394" y="5920305"/>
            <a:ext cx="294649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WT Capacity = 400 MW</a:t>
            </a: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 batt = 5 MWs (virtual)</a:t>
            </a: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 wind = 4 MWs (virtual)</a:t>
            </a:r>
          </a:p>
        </p:txBody>
      </p:sp>
    </p:spTree>
    <p:extLst>
      <p:ext uri="{BB962C8B-B14F-4D97-AF65-F5344CB8AC3E}">
        <p14:creationId xmlns:p14="http://schemas.microsoft.com/office/powerpoint/2010/main" val="2742999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5035-3B80-79B6-A89C-518F1549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17262-E1C6-6EA1-E7C1-B526B08CBCC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Cost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AC1C6-9B71-6B43-67DD-B52B26E59A1F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29BE4-DAD5-F0C6-39A8-07CEC0742163}"/>
              </a:ext>
            </a:extLst>
          </p:cNvPr>
          <p:cNvSpPr txBox="1"/>
          <p:nvPr/>
        </p:nvSpPr>
        <p:spPr>
          <a:xfrm>
            <a:off x="0" y="1361589"/>
            <a:ext cx="3369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dirty="0" err="1"/>
              <a:t>urutan</a:t>
            </a:r>
            <a:r>
              <a:rPr lang="en-US" sz="1200" dirty="0"/>
              <a:t> </a:t>
            </a:r>
            <a:r>
              <a:rPr lang="en-US" sz="1200" dirty="0" err="1"/>
              <a:t>simulasi</a:t>
            </a:r>
            <a:r>
              <a:rPr lang="en-US" sz="1200" dirty="0"/>
              <a:t> </a:t>
            </a:r>
            <a:r>
              <a:rPr lang="en-US" sz="1200" dirty="0" err="1"/>
              <a:t>mengacu</a:t>
            </a:r>
            <a:r>
              <a:rPr lang="en-US" sz="1200" dirty="0"/>
              <a:t> pada slide constraint</a:t>
            </a:r>
            <a:endParaRPr lang="en-ID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E9EC2D-3CC8-8A24-7D64-5A24B0D91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47501"/>
              </p:ext>
            </p:extLst>
          </p:nvPr>
        </p:nvGraphicFramePr>
        <p:xfrm>
          <a:off x="80211" y="440839"/>
          <a:ext cx="7315200" cy="9207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4450281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9019587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7634222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17017738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5985646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20314569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09465808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11382091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#3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#4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#5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#6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#7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107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Fuel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3452429.39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3506627.97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3226209.51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3625928.24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3620476.72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3388276.88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3383101.16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472119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Fixed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514953.96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507544.58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487589.54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81751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Startup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61840.00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5712.00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2592.00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546284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Total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4029223.23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4019884.52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3716390.94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4181809.71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4176358.21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3944158.37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 dirty="0">
                          <a:effectLst/>
                        </a:rPr>
                        <a:t>3938982.65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419174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073F4F7-6DF3-6712-E49A-941611D86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76831"/>
              </p:ext>
            </p:extLst>
          </p:nvPr>
        </p:nvGraphicFramePr>
        <p:xfrm>
          <a:off x="2438400" y="1888495"/>
          <a:ext cx="7315200" cy="3857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795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76D0-0AD1-1490-1C51-9175C7B8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901009-DF5B-15AF-3493-623E68051CB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DD9C0-7557-4CEE-850F-8AB0D60BCD8A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769E4-6939-F6E8-CAA0-C42D9D7DAA24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19278-A471-5CAB-8731-982ED978B4E3}"/>
              </a:ext>
            </a:extLst>
          </p:cNvPr>
          <p:cNvSpPr txBox="1"/>
          <p:nvPr/>
        </p:nvSpPr>
        <p:spPr>
          <a:xfrm>
            <a:off x="0" y="2354670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A2503-7BF8-C8F2-925C-9F00E74F92A8}"/>
              </a:ext>
            </a:extLst>
          </p:cNvPr>
          <p:cNvSpPr txBox="1"/>
          <p:nvPr/>
        </p:nvSpPr>
        <p:spPr>
          <a:xfrm>
            <a:off x="0" y="4401563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D854C-E8B9-67D7-EB80-1C8696C5AEC5}"/>
              </a:ext>
            </a:extLst>
          </p:cNvPr>
          <p:cNvSpPr txBox="1"/>
          <p:nvPr/>
        </p:nvSpPr>
        <p:spPr>
          <a:xfrm>
            <a:off x="726440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88EEC-E2D3-0D6A-F141-52625CB1B377}"/>
              </a:ext>
            </a:extLst>
          </p:cNvPr>
          <p:cNvSpPr txBox="1"/>
          <p:nvPr/>
        </p:nvSpPr>
        <p:spPr>
          <a:xfrm>
            <a:off x="7264400" y="2354670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1EF38D-1736-647B-76E8-03A0537165AE}"/>
              </a:ext>
            </a:extLst>
          </p:cNvPr>
          <p:cNvSpPr txBox="1"/>
          <p:nvPr/>
        </p:nvSpPr>
        <p:spPr>
          <a:xfrm>
            <a:off x="7264400" y="4401563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DD3B8CB-6DBB-8B99-1552-3A440CED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2662447"/>
            <a:ext cx="4680000" cy="17391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EA73DD-327E-0354-663E-26CBDE9A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615554"/>
            <a:ext cx="4680000" cy="17391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E7BD821-29E1-1C21-1943-58C5A1B7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4709340"/>
            <a:ext cx="4680000" cy="17391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CF3C171-5C6C-3E8E-2DAF-2595FD0E0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9340"/>
            <a:ext cx="4680000" cy="17391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B8B348-6BF1-CAB8-5A96-F8F6A6C6B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62447"/>
            <a:ext cx="4680000" cy="173911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17A2796-8515-1221-B320-AD3C17D39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5554"/>
            <a:ext cx="4680000" cy="1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9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7719-0E94-60BA-5445-4BE3F310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63A023-E4EA-B3D1-404E-D80BD0094B0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AFB94-FAE7-E538-2FBA-8EF1A4883C89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7B8EA-FFF2-4A2C-0195-BF9A76227F9D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62D1F-4A7C-F9BB-4778-43DAD7DBA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554"/>
            <a:ext cx="4680000" cy="1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58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0677-EDFE-60F8-6FC9-7CE223C8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D6F28C-21D6-6E48-5328-D615B0A46AE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F97DB-AE0C-6CA1-378C-41EAEFD39D90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4352F-7DF4-DC19-009F-BE25D6EBF220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EEBA5-ACB0-8C65-352B-91557002FC3A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155992-0F93-12C1-96D5-1A3BE6C11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89868"/>
              </p:ext>
            </p:extLst>
          </p:nvPr>
        </p:nvGraphicFramePr>
        <p:xfrm>
          <a:off x="71718" y="562803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210385980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26340926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5708569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27049282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4273321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1670512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8670984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1102298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4516091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916513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893456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7306365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3436922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58926559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7712797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89858884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4958659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0066264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347223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17573670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01127743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1302504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5862426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99576787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62844447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65801542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46863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530645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1167.69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4669085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6624531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915.2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889.06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881734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2345766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8692168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396.22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299.47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48434775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399.68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426.45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547.6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447.71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441.61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776268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602.81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454.43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599.27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479.4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523520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149978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114801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77838733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8351513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WT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Wind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2727088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22A407-0E53-4EB3-2E8A-453B04909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037155"/>
              </p:ext>
            </p:extLst>
          </p:nvPr>
        </p:nvGraphicFramePr>
        <p:xfrm>
          <a:off x="71718" y="2761009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412687812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12142090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507275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239044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52988931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16514506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2720872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174035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046678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56657276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7022855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05982575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06477871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1449425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21257929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0582418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3949248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2818737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637549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30296887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4291646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9215165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5186932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8039748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2386139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42458734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88335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9126589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559633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470.98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479.87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602.6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484.3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536.96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1135064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863.38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8806121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64119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918224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455.77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734.04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67255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74672737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80294089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5915849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8784680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-26.54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2483832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6711492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WT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849373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5BE23-C3AB-C839-E374-AB8F79DF6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4553"/>
              </p:ext>
            </p:extLst>
          </p:nvPr>
        </p:nvGraphicFramePr>
        <p:xfrm>
          <a:off x="71718" y="4959215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357937904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06865328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0801063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6900954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8308729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55604555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8135077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1735578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585499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02765424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9099388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6961226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533751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4919045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277538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7639757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939236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2738177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5565118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80516272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6200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2548412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7254918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98210989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07682068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48739456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889125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72885042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1159.14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1054.89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8628505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351.09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726.55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656.78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449.34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716.02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591.93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61917131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715.77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9996822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63602854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3888156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380.27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1958583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7287476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5524141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628.66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5129893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771.45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7228324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295122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5568529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51272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906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A8A0-F4AE-EB97-078C-443D5BAE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0FBAA-624A-CB49-9BF4-FECABF456F0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BC36F-7D10-A7AD-F9E2-3E1ED7143CE0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A2A43-B50C-CA29-70F2-98035ED2F898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5F721-5698-1743-1BA6-1FCD3C93FBD1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5E8330-752E-6E4F-F1C1-AE444FAE6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17878"/>
              </p:ext>
            </p:extLst>
          </p:nvPr>
        </p:nvGraphicFramePr>
        <p:xfrm>
          <a:off x="71718" y="615554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2773354182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185850582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18445054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67757941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2308252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6658689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45087200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6399655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15243171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8156182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538618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2857068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70693758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293746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93672880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9963898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73934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1087647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42099932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93795478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10548557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50728844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8482494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4704577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0943158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30134925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78694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6472413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939.18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5648048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445.09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409.9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7012934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1234945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3379052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5852437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500.53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424.23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524.09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394.04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604.32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7024717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802.62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96332180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60247396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772.84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788.33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99018105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3956087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230933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3185887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120856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0F10E6-4E7B-E851-5E18-53FAAF902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50114"/>
              </p:ext>
            </p:extLst>
          </p:nvPr>
        </p:nvGraphicFramePr>
        <p:xfrm>
          <a:off x="71718" y="2732781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433673557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1730305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0655557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2919536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9729320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6894382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35128031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466658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9038461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6060175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160238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74918903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7185530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3315089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56062170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1981624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2861578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0136210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37967370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4165629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5320370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639709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64187625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3627550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3056426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76950996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62426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801790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2062972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637.66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637374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917.79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915.97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6295309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55482122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8816389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258.24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475.76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779.45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586.23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278.28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8997893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353.09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653.09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439.22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317.9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4514815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4145560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561.25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681.25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94067961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3705220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-12.42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-52.59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-32.41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260321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52270788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4536774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C0E90F-9B77-F989-1AF5-95F63EBCE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43277"/>
              </p:ext>
            </p:extLst>
          </p:nvPr>
        </p:nvGraphicFramePr>
        <p:xfrm>
          <a:off x="71718" y="4959215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73076045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314406816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875176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808800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19794453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5420361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265372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1800189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5263727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2101545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236321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7685234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53563809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4408898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85137403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9162992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637163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9256786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56250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05692960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3021883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870750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5647566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3791400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2470162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813192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224000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9512340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889.27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8314182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435.42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372.91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365.57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09845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644.14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764.14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217009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51289527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28728684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279.73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8290244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513.96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313.19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336.69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520.21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0424727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906455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29849231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778.49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499786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-25.96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-53.54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047678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72787746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6157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13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557E-6B43-0E53-8935-3B53AF28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92ACBC-EB4F-4B13-1F27-80B0EF95456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CC035-26BA-E986-F98D-0B073448F0F8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D724D4-BA89-2A9A-3743-3230C28CD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70002"/>
              </p:ext>
            </p:extLst>
          </p:nvPr>
        </p:nvGraphicFramePr>
        <p:xfrm>
          <a:off x="71718" y="629668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98217319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261858909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2226385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069483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6710637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9785083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7621343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0036259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28151664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7994123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8717293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516251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01112497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6046302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17192195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5275941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6583052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90382411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3567034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9182206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9236037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39705686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3402254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9371899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83047216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0063495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519007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1493270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658.01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78194745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417.82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0189797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680.66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868.89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43372251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7738466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962747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532.94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8442497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522.61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6893994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1453589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97293554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790.09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032985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-30.25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-54.75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4416004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1314848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54706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180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6827-5E8F-58E0-9ECC-356D4E82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7B0502-F1F2-E469-CAD1-259DEA02CC4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6716A-6581-62BC-20CB-52E8F40DD44D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63AA9-1B50-5270-87A9-23E57CAE850E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7BB04-7118-FB06-2A42-EDECD898D406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7D9FCF-B76C-9FD2-A49F-2BC2F77D1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83223"/>
              </p:ext>
            </p:extLst>
          </p:nvPr>
        </p:nvGraphicFramePr>
        <p:xfrm>
          <a:off x="71719" y="609920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880977695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7930277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295382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7772913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5991672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9269921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299350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6336499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03962783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997791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740411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6291656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300355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423608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2703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139429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342138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73648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321153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655208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5201001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8124476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0257988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25848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0134980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67243658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47054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405424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595888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378895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130682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7763529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6907191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805.83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698.78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795.53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701.74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209066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410.32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383.55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313.13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200.26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362.29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559.33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799064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318.57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293.6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345.32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412929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476918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12690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8721719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2771497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1166431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94D3FF-7B9E-4248-E0DF-ED3ECD97E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9892"/>
              </p:ext>
            </p:extLst>
          </p:nvPr>
        </p:nvGraphicFramePr>
        <p:xfrm>
          <a:off x="71719" y="2761008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2076381239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34593028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6429009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527107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6223075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8371271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86898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633569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128460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73566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1802448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528929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75519874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53422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7426270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34995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677529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521963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157609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285150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838866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2981362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2559195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328005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354729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27705589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51987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147936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2506755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702.93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402.93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654.02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645.13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522.4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3506552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137653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975482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861830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808.7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639.23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394.44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48046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5240519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776424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7833187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59.08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215724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904270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732189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2119126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E10771-DA49-DCCE-85B9-3964852E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389675"/>
              </p:ext>
            </p:extLst>
          </p:nvPr>
        </p:nvGraphicFramePr>
        <p:xfrm>
          <a:off x="71719" y="4912096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406748211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316504181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5577783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01562236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764527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515012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124099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200630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192356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068680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0819812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444435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655977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481665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366604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737714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884948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963108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4092173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361460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758086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6818683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0199299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2012531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634453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80750007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19825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589499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137.64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003625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398.45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675.66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511.43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408.98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464.81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533.07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2282719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253.23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863706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353786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529550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714.73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7600316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5716328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156303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241.34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238.37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285197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085829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4716516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765727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0364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545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5FA9-F3AB-435D-BD23-D0FA9657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D26EC-6E7E-D6CE-D751-4BC932869569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24525-DAF7-11A3-319B-E658453EAD91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0495A-A18D-BF30-6724-BEE45196F01C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E162B-6852-0926-22DB-EDD217D4B8EA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BEED6C-4D5E-91B9-C3AE-5CE3B7DA7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05704"/>
              </p:ext>
            </p:extLst>
          </p:nvPr>
        </p:nvGraphicFramePr>
        <p:xfrm>
          <a:off x="71719" y="581693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267398030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44171095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1127125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945298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903442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619149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2455436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317198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033120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881960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75131456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395047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5529161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6531800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696091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9944542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4802756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0194662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2832006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775419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699737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8996348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468829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559148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816993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34239372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587614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419910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451.66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772754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715.1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25525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424909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514348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483276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594.47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725.93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700.96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297.06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567.84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6935353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509.84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957233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27979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97.16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176.98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7379692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5137982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8571881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960121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605893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86E559-16DC-053F-4D40-8B97FF2D0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98910"/>
              </p:ext>
            </p:extLst>
          </p:nvPr>
        </p:nvGraphicFramePr>
        <p:xfrm>
          <a:off x="71719" y="2761009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1945320679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5053912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938868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83756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332212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0010220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0278802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4959124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34273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121690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698664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4940739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374952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210762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7501245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4536834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041091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118752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6709216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17046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87415042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479605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387756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6065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7271993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32053555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00903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436978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608464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689.58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752.09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3842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091472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64544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5675548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815.27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2511759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296.04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501.17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6682939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453611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9830417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01683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4139451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426174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336356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37C9F-E7A0-AF0C-CB9F-2F01A22C6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90416"/>
              </p:ext>
            </p:extLst>
          </p:nvPr>
        </p:nvGraphicFramePr>
        <p:xfrm>
          <a:off x="71719" y="4919504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042838634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118539657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360128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863017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0064406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973489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347897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666514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5511183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9728806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481608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323304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586476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66705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179845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8235117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316941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6467671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446837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654237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627711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029099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4830720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404325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603388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55956383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09568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8277873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527583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689.58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752.09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390022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231051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653863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503690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815.27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115970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296.04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501.17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0613741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915229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5192863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7166966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356273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937923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8328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994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5FA3-A68C-7A16-E225-08FEAF7B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A0D40F-525B-4EBC-48B6-C3A4D1AE6AFA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8700F-6054-2D17-A48D-790EDCF723F4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26C6BD-EDB4-6E8E-9EDE-5AF247885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268461"/>
              </p:ext>
            </p:extLst>
          </p:nvPr>
        </p:nvGraphicFramePr>
        <p:xfrm>
          <a:off x="71719" y="615554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92218441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94210635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7595489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7081897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292530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33293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310586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918414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135536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9406334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460210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856573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0398096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659216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438053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12140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433428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710807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2435489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2116629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331942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0628749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100989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123940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5401179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84999918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139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9964568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517.99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2216076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536.64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612.72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7123019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261.23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291.37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171.37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100.11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4520526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430483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782850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832.87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3659893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287.39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537.51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306761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137206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141353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0610464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826020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7680087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7264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465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6113-3A77-2369-18AC-5122410D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6D5C1-D3D7-FEB9-6187-B0646220764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Battery Condition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4F11E-BA18-8484-0D54-1C87094A9D6E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3C650-B984-0AAC-38EA-421ED1A2F6B4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Charge/Discharge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23BD6-CA82-64B5-28B9-C0F7141C13F6}"/>
              </a:ext>
            </a:extLst>
          </p:cNvPr>
          <p:cNvSpPr txBox="1"/>
          <p:nvPr/>
        </p:nvSpPr>
        <p:spPr>
          <a:xfrm>
            <a:off x="0" y="1808083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State of Charge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59B91FB-A3E4-C244-56DD-BDEF396CF8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866639"/>
              </p:ext>
            </p:extLst>
          </p:nvPr>
        </p:nvGraphicFramePr>
        <p:xfrm>
          <a:off x="244928" y="3402265"/>
          <a:ext cx="5488214" cy="2899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46C0E8-C017-F90F-5ABE-6DCD8B093D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6047309"/>
              </p:ext>
            </p:extLst>
          </p:nvPr>
        </p:nvGraphicFramePr>
        <p:xfrm>
          <a:off x="6465259" y="3429000"/>
          <a:ext cx="5481812" cy="2890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E4F6C9-C91D-E54D-8ED8-554CAD520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83502"/>
              </p:ext>
            </p:extLst>
          </p:nvPr>
        </p:nvGraphicFramePr>
        <p:xfrm>
          <a:off x="77805" y="556346"/>
          <a:ext cx="10515588" cy="1141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65444689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7866491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0183171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81558957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4795016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0802232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532505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0500486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706598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7740577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31828315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331836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01160971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519395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75398537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4838528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823927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70647603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4053902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2295802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96197918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745193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1118785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4048909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06602170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602829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95489692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#1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6574963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#2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-51.68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-61.56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-51.26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65835421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#3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64167627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#4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8957774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#5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17.42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-37.92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72.59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32.41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-15.62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15.62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-28.28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-56.72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54977820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#6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25.96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365812608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#7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50.25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54.75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20.50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72677778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2712FE-36C0-BA25-9A00-F73842847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115"/>
              </p:ext>
            </p:extLst>
          </p:nvPr>
        </p:nvGraphicFramePr>
        <p:xfrm>
          <a:off x="77805" y="2085082"/>
          <a:ext cx="10515588" cy="1141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34907108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3427883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2816436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81410709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991331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72608072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69010378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6283862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98046854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41406698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7966836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284803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60955982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81510445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8270404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1370152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66220390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606225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4421986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6367699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4710776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435083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0295628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0454011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84977489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43491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0602821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#1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40546707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#2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91.41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153.32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153.32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91.76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9835850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#3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08736056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#4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6197546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#5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57.92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92.59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189.38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76.72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179741102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#6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58748011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#7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120.50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150.25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40.50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6003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112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8258-32F7-F901-9DC4-9359BBF2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8A4F5-6C18-ACA2-5F63-E35477FF772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Wind Turbine Condition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150A0-09E4-0A9F-2B55-4BA066C057C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5EFA2-B264-3A71-D9D8-F10D5B904013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B3B87-C3BD-5629-0C3A-D1321D527853}"/>
              </a:ext>
            </a:extLst>
          </p:cNvPr>
          <p:cNvSpPr txBox="1"/>
          <p:nvPr/>
        </p:nvSpPr>
        <p:spPr>
          <a:xfrm>
            <a:off x="0" y="1552112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&amp; #7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18B9C55-DE95-CF8B-6663-E9E62625C8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7546398"/>
              </p:ext>
            </p:extLst>
          </p:nvPr>
        </p:nvGraphicFramePr>
        <p:xfrm>
          <a:off x="1315131" y="3246786"/>
          <a:ext cx="4603750" cy="2702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DD389B1-C83E-9CF8-B3E4-A12213CD50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5852983"/>
              </p:ext>
            </p:extLst>
          </p:nvPr>
        </p:nvGraphicFramePr>
        <p:xfrm>
          <a:off x="6304869" y="324769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F724-7714-C4E7-E1F2-EB7931AE0967}"/>
              </a:ext>
            </a:extLst>
          </p:cNvPr>
          <p:cNvSpPr txBox="1"/>
          <p:nvPr/>
        </p:nvSpPr>
        <p:spPr>
          <a:xfrm>
            <a:off x="1315131" y="2901915"/>
            <a:ext cx="293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7EE48-9925-B6D6-72C1-CFB90EBD6525}"/>
              </a:ext>
            </a:extLst>
          </p:cNvPr>
          <p:cNvSpPr txBox="1"/>
          <p:nvPr/>
        </p:nvSpPr>
        <p:spPr>
          <a:xfrm>
            <a:off x="6304869" y="2901915"/>
            <a:ext cx="293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&amp; #7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CFF57D2-8A92-62B9-D5F9-A5BB2C038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28146"/>
              </p:ext>
            </p:extLst>
          </p:nvPr>
        </p:nvGraphicFramePr>
        <p:xfrm>
          <a:off x="77805" y="584943"/>
          <a:ext cx="10515592" cy="795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680">
                  <a:extLst>
                    <a:ext uri="{9D8B030D-6E8A-4147-A177-3AD203B41FA5}">
                      <a16:colId xmlns:a16="http://schemas.microsoft.com/office/drawing/2014/main" val="6975486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90522379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00424734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6979915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248665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1054492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1362829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06150627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16901701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74405485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76009987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24223395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27737529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4917007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847351930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96736613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31551858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86110631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2597383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8523531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59934768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05949993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0662686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1138693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83892722"/>
                    </a:ext>
                  </a:extLst>
                </a:gridCol>
              </a:tblGrid>
              <a:tr h="1591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Wind Turbine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Hour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031155"/>
                  </a:ext>
                </a:extLst>
              </a:tr>
              <a:tr h="15916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extLst>
                  <a:ext uri="{0D108BD9-81ED-4DB2-BD59-A6C34878D82A}">
                    <a16:rowId xmlns:a16="http://schemas.microsoft.com/office/drawing/2014/main" val="3991777619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Available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140.31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97237140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Curtailment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3325529195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Used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 dirty="0">
                          <a:effectLst/>
                        </a:rPr>
                        <a:t>140.31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267573791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50646C-6034-8C06-69B8-72786BDCF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257019"/>
              </p:ext>
            </p:extLst>
          </p:nvPr>
        </p:nvGraphicFramePr>
        <p:xfrm>
          <a:off x="77805" y="1829111"/>
          <a:ext cx="10515592" cy="795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680">
                  <a:extLst>
                    <a:ext uri="{9D8B030D-6E8A-4147-A177-3AD203B41FA5}">
                      <a16:colId xmlns:a16="http://schemas.microsoft.com/office/drawing/2014/main" val="418315227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78944677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9270815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12662371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95270160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0627394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1965670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81239797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85178787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577795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1666211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6618242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053254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68936035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21546982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26511567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3294468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90149460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3047290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61900113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52491570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0609368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08429615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8570007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68885699"/>
                    </a:ext>
                  </a:extLst>
                </a:gridCol>
              </a:tblGrid>
              <a:tr h="1591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Wind Turbine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Hour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459177"/>
                  </a:ext>
                </a:extLst>
              </a:tr>
              <a:tr h="15916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extLst>
                  <a:ext uri="{0D108BD9-81ED-4DB2-BD59-A6C34878D82A}">
                    <a16:rowId xmlns:a16="http://schemas.microsoft.com/office/drawing/2014/main" val="69726030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Available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140.31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3409942649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Curtailment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76.17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279675385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Used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323.83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 dirty="0">
                          <a:effectLst/>
                        </a:rPr>
                        <a:t>140.31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50357475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BEFEBF1-D941-D8E3-2088-5AB9F091B774}"/>
              </a:ext>
            </a:extLst>
          </p:cNvPr>
          <p:cNvSpPr txBox="1"/>
          <p:nvPr/>
        </p:nvSpPr>
        <p:spPr>
          <a:xfrm>
            <a:off x="1315131" y="5855060"/>
            <a:ext cx="5000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*scenario constraint </a:t>
            </a:r>
            <a:r>
              <a:rPr lang="en-US" sz="1200" dirty="0" err="1"/>
              <a:t>nomor</a:t>
            </a:r>
            <a:r>
              <a:rPr lang="en-US" sz="1200" dirty="0"/>
              <a:t> 6 dan 7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WT yang </a:t>
            </a:r>
            <a:r>
              <a:rPr lang="en-US" sz="1200" dirty="0" err="1"/>
              <a:t>sama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3396207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31A4-4C95-7C7C-0DD2-41DD48BA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448D1-9582-F783-27CB-9F4ACE6A545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89E87A-D693-67A1-9069-42DE09F11BCC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FAB90-CD0C-A775-D91F-0E0B08C77E5A}"/>
              </a:ext>
            </a:extLst>
          </p:cNvPr>
          <p:cNvSpPr txBox="1"/>
          <p:nvPr/>
        </p:nvSpPr>
        <p:spPr>
          <a:xfrm>
            <a:off x="381416" y="3916808"/>
            <a:ext cx="4289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Kontribusi</a:t>
            </a:r>
            <a:r>
              <a:rPr lang="en-US" sz="1200" dirty="0"/>
              <a:t> Virtual </a:t>
            </a:r>
            <a:r>
              <a:rPr lang="en-US" sz="1200" dirty="0" err="1"/>
              <a:t>Inersia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pada scenario constraint 7</a:t>
            </a:r>
            <a:endParaRPr lang="en-ID" sz="12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A766F8D-29A2-55F0-5BF9-07CD9027AF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0291441"/>
              </p:ext>
            </p:extLst>
          </p:nvPr>
        </p:nvGraphicFramePr>
        <p:xfrm>
          <a:off x="381416" y="680355"/>
          <a:ext cx="5222838" cy="3140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167F2B-19C4-3B49-2D90-923D4DD5E3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740115"/>
              </p:ext>
            </p:extLst>
          </p:nvPr>
        </p:nvGraphicFramePr>
        <p:xfrm>
          <a:off x="6655002" y="632910"/>
          <a:ext cx="5233222" cy="3188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97160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1C85-E282-0201-C3F4-C147F486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DAFA7-01AA-6855-A3A7-147C01FF268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Progress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Arah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6FF87-C27B-3B8C-B413-286266DC3453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72C2E9-A5A0-B8A8-B73E-6AEED51D6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077189"/>
              </p:ext>
            </p:extLst>
          </p:nvPr>
        </p:nvGraphicFramePr>
        <p:xfrm>
          <a:off x="67734" y="375509"/>
          <a:ext cx="820077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636">
                  <a:extLst>
                    <a:ext uri="{9D8B030D-6E8A-4147-A177-3AD203B41FA5}">
                      <a16:colId xmlns:a16="http://schemas.microsoft.com/office/drawing/2014/main" val="3299876045"/>
                    </a:ext>
                  </a:extLst>
                </a:gridCol>
                <a:gridCol w="1147864">
                  <a:extLst>
                    <a:ext uri="{9D8B030D-6E8A-4147-A177-3AD203B41FA5}">
                      <a16:colId xmlns:a16="http://schemas.microsoft.com/office/drawing/2014/main" val="1620431495"/>
                    </a:ext>
                  </a:extLst>
                </a:gridCol>
                <a:gridCol w="4669277">
                  <a:extLst>
                    <a:ext uri="{9D8B030D-6E8A-4147-A177-3AD203B41FA5}">
                      <a16:colId xmlns:a16="http://schemas.microsoft.com/office/drawing/2014/main" val="1549119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Tahap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Tujuan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 Dasar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biaya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7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N-1 Reserve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reserve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terhhadap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kehilangan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unit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terbesar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2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Frequency Security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inertia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Steady Primary Frequency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Primary Frequency Response (PFR)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6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Model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Meningkatkan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fleksibilitas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reserve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9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 Turbine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Integrasi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pembangkit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55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Virtual Inertia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Memenuhi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saat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terjadi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kontingensi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5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2C21285-CE2D-562E-1B1E-2C60226E5F1D}"/>
              </a:ext>
            </a:extLst>
          </p:cNvPr>
          <p:cNvSpPr txBox="1"/>
          <p:nvPr/>
        </p:nvSpPr>
        <p:spPr>
          <a:xfrm>
            <a:off x="67734" y="3515771"/>
            <a:ext cx="55038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Pengembangan</a:t>
            </a:r>
            <a:r>
              <a:rPr lang="en-US" sz="1400" b="1" dirty="0"/>
              <a:t> </a:t>
            </a:r>
            <a:r>
              <a:rPr lang="en-US" sz="1400" b="1" dirty="0" err="1"/>
              <a:t>Selanjutnya</a:t>
            </a:r>
            <a:r>
              <a:rPr lang="en-US" sz="14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perbaikan</a:t>
            </a:r>
            <a:r>
              <a:rPr lang="en-US" sz="1400" dirty="0"/>
              <a:t> </a:t>
            </a:r>
            <a:r>
              <a:rPr lang="en-US" sz="1400" dirty="0" err="1"/>
              <a:t>persamaan</a:t>
            </a:r>
            <a:r>
              <a:rPr lang="en-US" sz="1400" dirty="0"/>
              <a:t> virtual inertia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simulasi</a:t>
            </a:r>
            <a:r>
              <a:rPr lang="en-US" sz="1400" dirty="0"/>
              <a:t> fast frequency response (</a:t>
            </a:r>
            <a:r>
              <a:rPr lang="en-US" sz="1400" dirty="0" err="1"/>
              <a:t>frekuensi</a:t>
            </a:r>
            <a:r>
              <a:rPr lang="en-US" sz="1400" dirty="0"/>
              <a:t> nadir)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simulasi</a:t>
            </a:r>
            <a:r>
              <a:rPr lang="en-US" sz="1400" dirty="0"/>
              <a:t> primary frequency response (steady state)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501523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5B50-E8CC-9AB8-FB2A-7F482BC5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136F0-6158-993D-51CD-5EAA0D039CF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2A6EA-C426-109D-825A-5787FAEAB280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2A3E0-F70B-89D5-FB04-030CECDF8174}"/>
              </a:ext>
            </a:extLst>
          </p:cNvPr>
          <p:cNvSpPr txBox="1"/>
          <p:nvPr/>
        </p:nvSpPr>
        <p:spPr>
          <a:xfrm>
            <a:off x="2318171" y="2767281"/>
            <a:ext cx="75556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  <a:endParaRPr lang="en-ID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1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12923</TotalTime>
  <Words>8499</Words>
  <Application>Microsoft Office PowerPoint</Application>
  <PresentationFormat>Widescreen</PresentationFormat>
  <Paragraphs>6346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Aris Risnandar</dc:creator>
  <cp:lastModifiedBy>Muhammad Aris Risnandar</cp:lastModifiedBy>
  <cp:revision>50</cp:revision>
  <dcterms:created xsi:type="dcterms:W3CDTF">2026-04-10T04:24:32Z</dcterms:created>
  <dcterms:modified xsi:type="dcterms:W3CDTF">2026-06-14T19:50:19Z</dcterms:modified>
</cp:coreProperties>
</file>